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4630400" cy="8229600"/>
  <p:notesSz cx="14630400" cy="8229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2C3F4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2B2E3C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2C3F4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357" y="-355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29995" y="0"/>
                </a:moveTo>
                <a:lnTo>
                  <a:pt x="0" y="0"/>
                </a:lnTo>
                <a:lnTo>
                  <a:pt x="0" y="8229231"/>
                </a:lnTo>
                <a:lnTo>
                  <a:pt x="7315201" y="8229231"/>
                </a:lnTo>
                <a:lnTo>
                  <a:pt x="14629995" y="8229231"/>
                </a:lnTo>
                <a:lnTo>
                  <a:pt x="14629995" y="0"/>
                </a:lnTo>
                <a:close/>
              </a:path>
            </a:pathLst>
          </a:custGeom>
          <a:solidFill>
            <a:srgbClr val="A9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-357" y="-355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29995" y="0"/>
                </a:moveTo>
                <a:lnTo>
                  <a:pt x="0" y="0"/>
                </a:lnTo>
                <a:lnTo>
                  <a:pt x="0" y="8229231"/>
                </a:lnTo>
                <a:lnTo>
                  <a:pt x="7315201" y="8229231"/>
                </a:lnTo>
                <a:lnTo>
                  <a:pt x="14629995" y="8229231"/>
                </a:lnTo>
                <a:lnTo>
                  <a:pt x="14629995" y="0"/>
                </a:lnTo>
                <a:close/>
              </a:path>
            </a:pathLst>
          </a:custGeom>
          <a:solidFill>
            <a:srgbClr val="FFF8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065" y="7749349"/>
            <a:ext cx="1722234" cy="41112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486044" cy="82288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2C3F4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357" y="-355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29995" y="0"/>
                </a:moveTo>
                <a:lnTo>
                  <a:pt x="0" y="0"/>
                </a:lnTo>
                <a:lnTo>
                  <a:pt x="0" y="8229231"/>
                </a:lnTo>
                <a:lnTo>
                  <a:pt x="7315201" y="8229231"/>
                </a:lnTo>
                <a:lnTo>
                  <a:pt x="14629995" y="8229231"/>
                </a:lnTo>
                <a:lnTo>
                  <a:pt x="14629995" y="0"/>
                </a:lnTo>
                <a:close/>
              </a:path>
            </a:pathLst>
          </a:custGeom>
          <a:solidFill>
            <a:srgbClr val="A9BBB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-357" y="-355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29995" y="0"/>
                </a:moveTo>
                <a:lnTo>
                  <a:pt x="0" y="0"/>
                </a:lnTo>
                <a:lnTo>
                  <a:pt x="0" y="8229231"/>
                </a:lnTo>
                <a:lnTo>
                  <a:pt x="7315201" y="8229231"/>
                </a:lnTo>
                <a:lnTo>
                  <a:pt x="14629995" y="8229231"/>
                </a:lnTo>
                <a:lnTo>
                  <a:pt x="14629995" y="0"/>
                </a:lnTo>
                <a:close/>
              </a:path>
            </a:pathLst>
          </a:custGeom>
          <a:solidFill>
            <a:srgbClr val="FFF8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065" y="7749349"/>
            <a:ext cx="1722234" cy="411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1745" y="481939"/>
            <a:ext cx="5430520" cy="43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2C3F41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21016" y="1308563"/>
            <a:ext cx="6303009" cy="2015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B2E3C"/>
                </a:solidFill>
                <a:latin typeface="Arial Unicode MS"/>
                <a:cs typeface="Arial Unicode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hyperlink" Target="https://gamma.app/?utm_source=made-with-gamma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10502" y="3419538"/>
            <a:ext cx="7093584" cy="140906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666875" marR="5080" indent="-1654810">
              <a:lnSpc>
                <a:spcPts val="5550"/>
              </a:lnSpc>
            </a:pPr>
            <a:r>
              <a:rPr dirty="0" sz="4450" spc="-190"/>
              <a:t>SQL</a:t>
            </a:r>
            <a:r>
              <a:rPr dirty="0" sz="4450" spc="5">
                <a:latin typeface="Arial"/>
                <a:cs typeface="Arial"/>
              </a:rPr>
              <a:t> </a:t>
            </a:r>
            <a:r>
              <a:rPr dirty="0" sz="4450" spc="90"/>
              <a:t>Data</a:t>
            </a:r>
            <a:r>
              <a:rPr dirty="0" sz="4450" spc="5">
                <a:latin typeface="Arial"/>
                <a:cs typeface="Arial"/>
              </a:rPr>
              <a:t> </a:t>
            </a:r>
            <a:r>
              <a:rPr dirty="0" sz="4450" spc="85"/>
              <a:t>Cleaning</a:t>
            </a:r>
            <a:r>
              <a:rPr dirty="0" sz="4450" spc="5">
                <a:latin typeface="Arial"/>
                <a:cs typeface="Arial"/>
              </a:rPr>
              <a:t> </a:t>
            </a:r>
            <a:r>
              <a:rPr dirty="0" sz="4450" spc="-10"/>
              <a:t>Project:</a:t>
            </a:r>
            <a:r>
              <a:rPr dirty="0" sz="4450" spc="-10">
                <a:latin typeface="Arial"/>
                <a:cs typeface="Arial"/>
              </a:rPr>
              <a:t> </a:t>
            </a:r>
            <a:r>
              <a:rPr dirty="0" sz="4450" spc="85"/>
              <a:t>Global</a:t>
            </a:r>
            <a:r>
              <a:rPr dirty="0" sz="4450" spc="40">
                <a:latin typeface="Arial"/>
                <a:cs typeface="Arial"/>
              </a:rPr>
              <a:t> </a:t>
            </a:r>
            <a:r>
              <a:rPr dirty="0" sz="4450" spc="70"/>
              <a:t>Layoffs</a:t>
            </a:r>
            <a:endParaRPr sz="445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2866472" y="7704023"/>
            <a:ext cx="1675130" cy="432434"/>
          </a:xfrm>
          <a:custGeom>
            <a:avLst/>
            <a:gdLst/>
            <a:ahLst/>
            <a:cxnLst/>
            <a:rect l="l" t="t" r="r" b="b"/>
            <a:pathLst>
              <a:path w="1675130" h="432434">
                <a:moveTo>
                  <a:pt x="1675079" y="0"/>
                </a:moveTo>
                <a:lnTo>
                  <a:pt x="1400937" y="0"/>
                </a:lnTo>
                <a:lnTo>
                  <a:pt x="274142" y="0"/>
                </a:lnTo>
                <a:lnTo>
                  <a:pt x="0" y="0"/>
                </a:lnTo>
                <a:lnTo>
                  <a:pt x="0" y="158165"/>
                </a:lnTo>
                <a:lnTo>
                  <a:pt x="0" y="274142"/>
                </a:lnTo>
                <a:lnTo>
                  <a:pt x="0" y="432308"/>
                </a:lnTo>
                <a:lnTo>
                  <a:pt x="274142" y="432308"/>
                </a:lnTo>
                <a:lnTo>
                  <a:pt x="1400937" y="432308"/>
                </a:lnTo>
                <a:lnTo>
                  <a:pt x="1675079" y="432308"/>
                </a:lnTo>
                <a:lnTo>
                  <a:pt x="1675079" y="274142"/>
                </a:lnTo>
                <a:lnTo>
                  <a:pt x="1675079" y="158165"/>
                </a:lnTo>
                <a:lnTo>
                  <a:pt x="16750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0747" y="1303451"/>
            <a:ext cx="5979795" cy="5664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50"/>
              <a:t>The</a:t>
            </a:r>
            <a:r>
              <a:rPr dirty="0" sz="3550" spc="35">
                <a:latin typeface="Arial"/>
                <a:cs typeface="Arial"/>
              </a:rPr>
              <a:t> </a:t>
            </a:r>
            <a:r>
              <a:rPr dirty="0" sz="3550" spc="75"/>
              <a:t>Data</a:t>
            </a:r>
            <a:r>
              <a:rPr dirty="0" sz="3550" spc="35">
                <a:latin typeface="Arial"/>
                <a:cs typeface="Arial"/>
              </a:rPr>
              <a:t> </a:t>
            </a:r>
            <a:r>
              <a:rPr dirty="0" sz="3550" spc="70"/>
              <a:t>Cleaning</a:t>
            </a:r>
            <a:r>
              <a:rPr dirty="0" sz="3550" spc="35">
                <a:latin typeface="Arial"/>
                <a:cs typeface="Arial"/>
              </a:rPr>
              <a:t> </a:t>
            </a:r>
            <a:r>
              <a:rPr dirty="0" sz="3550" spc="114"/>
              <a:t>Blueprint</a:t>
            </a:r>
            <a:endParaRPr sz="35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0747" y="2274397"/>
            <a:ext cx="4222115" cy="186499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4208780" algn="l"/>
              </a:tabLst>
            </a:pPr>
            <a:r>
              <a:rPr dirty="0" u="heavy" sz="1750" spc="-25">
                <a:solidFill>
                  <a:srgbClr val="2B2E3C"/>
                </a:solidFill>
                <a:uFill>
                  <a:solidFill>
                    <a:srgbClr val="D25F0F"/>
                  </a:solidFill>
                </a:uFill>
                <a:latin typeface="Arial Unicode MS"/>
                <a:cs typeface="Arial Unicode MS"/>
              </a:rPr>
              <a:t>01</a:t>
            </a:r>
            <a:r>
              <a:rPr dirty="0" u="heavy" sz="1750">
                <a:solidFill>
                  <a:srgbClr val="2B2E3C"/>
                </a:solidFill>
                <a:uFill>
                  <a:solidFill>
                    <a:srgbClr val="D25F0F"/>
                  </a:solidFill>
                </a:uFill>
                <a:latin typeface="Arial"/>
                <a:cs typeface="Arial"/>
              </a:rPr>
              <a:t>	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650">
                <a:solidFill>
                  <a:srgbClr val="2B2E3C"/>
                </a:solidFill>
                <a:latin typeface="Arial Unicode MS"/>
                <a:cs typeface="Arial Unicode MS"/>
              </a:rPr>
              <a:t>Establish</a:t>
            </a:r>
            <a:r>
              <a:rPr dirty="0" sz="2650" spc="1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650">
                <a:solidFill>
                  <a:srgbClr val="2B2E3C"/>
                </a:solidFill>
                <a:latin typeface="Arial Unicode MS"/>
                <a:cs typeface="Arial Unicode MS"/>
              </a:rPr>
              <a:t>a</a:t>
            </a:r>
            <a:r>
              <a:rPr dirty="0" sz="26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650" spc="60">
                <a:solidFill>
                  <a:srgbClr val="2B2E3C"/>
                </a:solidFill>
                <a:latin typeface="Arial Unicode MS"/>
                <a:cs typeface="Arial Unicode MS"/>
              </a:rPr>
              <a:t>Staging</a:t>
            </a:r>
            <a:r>
              <a:rPr dirty="0" sz="2650" spc="1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650" spc="-20">
                <a:solidFill>
                  <a:srgbClr val="2B2E3C"/>
                </a:solidFill>
                <a:latin typeface="Arial Unicode MS"/>
                <a:cs typeface="Arial Unicode MS"/>
              </a:rPr>
              <a:t>Area</a:t>
            </a:r>
            <a:endParaRPr sz="2650">
              <a:latin typeface="Arial Unicode MS"/>
              <a:cs typeface="Arial Unicode MS"/>
            </a:endParaRPr>
          </a:p>
          <a:p>
            <a:pPr marL="12700" marR="33655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Create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a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90">
                <a:solidFill>
                  <a:srgbClr val="2B2E3C"/>
                </a:solidFill>
                <a:latin typeface="Arial Unicode MS"/>
                <a:cs typeface="Arial Unicode MS"/>
              </a:rPr>
              <a:t>working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copy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90">
                <a:solidFill>
                  <a:srgbClr val="2B2E3C"/>
                </a:solidFill>
                <a:latin typeface="Arial Unicode MS"/>
                <a:cs typeface="Arial Unicode MS"/>
              </a:rPr>
              <a:t>of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5">
                <a:solidFill>
                  <a:srgbClr val="2B2E3C"/>
                </a:solidFill>
                <a:latin typeface="Arial Unicode MS"/>
                <a:cs typeface="Arial Unicode MS"/>
              </a:rPr>
              <a:t>your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70">
                <a:solidFill>
                  <a:srgbClr val="2B2E3C"/>
                </a:solidFill>
                <a:latin typeface="Arial Unicode MS"/>
                <a:cs typeface="Arial Unicode MS"/>
              </a:rPr>
              <a:t>raw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35">
                <a:solidFill>
                  <a:srgbClr val="2B2E3C"/>
                </a:solidFill>
                <a:latin typeface="Arial Unicode MS"/>
                <a:cs typeface="Arial Unicode MS"/>
              </a:rPr>
              <a:t>data</a:t>
            </a:r>
            <a:r>
              <a:rPr dirty="0" sz="1750" spc="3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05">
                <a:solidFill>
                  <a:srgbClr val="2B2E3C"/>
                </a:solidFill>
                <a:latin typeface="Arial Unicode MS"/>
                <a:cs typeface="Arial Unicode MS"/>
              </a:rPr>
              <a:t>to</a:t>
            </a:r>
            <a:r>
              <a:rPr dirty="0" sz="1750" spc="8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ensure</a:t>
            </a:r>
            <a:r>
              <a:rPr dirty="0" sz="1750" spc="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5">
                <a:solidFill>
                  <a:srgbClr val="2B2E3C"/>
                </a:solidFill>
                <a:latin typeface="Arial Unicode MS"/>
                <a:cs typeface="Arial Unicode MS"/>
              </a:rPr>
              <a:t>data</a:t>
            </a:r>
            <a:r>
              <a:rPr dirty="0" sz="1750" spc="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0">
                <a:solidFill>
                  <a:srgbClr val="2B2E3C"/>
                </a:solidFill>
                <a:latin typeface="Arial Unicode MS"/>
                <a:cs typeface="Arial Unicode MS"/>
              </a:rPr>
              <a:t>integrity</a:t>
            </a:r>
            <a:r>
              <a:rPr dirty="0" sz="1750" spc="8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65">
                <a:solidFill>
                  <a:srgbClr val="2B2E3C"/>
                </a:solidFill>
                <a:latin typeface="Arial Unicode MS"/>
                <a:cs typeface="Arial Unicode MS"/>
              </a:rPr>
              <a:t>and</a:t>
            </a:r>
            <a:r>
              <a:rPr dirty="0" sz="1750" spc="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B2E3C"/>
                </a:solidFill>
                <a:latin typeface="Arial Unicode MS"/>
                <a:cs typeface="Arial Unicode MS"/>
              </a:rPr>
              <a:t>traceability.</a:t>
            </a:r>
            <a:endParaRPr sz="1750">
              <a:latin typeface="Arial Unicode MS"/>
              <a:cs typeface="Arial Unicode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204066" y="2274397"/>
            <a:ext cx="8645525" cy="229044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4208780" algn="l"/>
                <a:tab pos="4435475" algn="l"/>
                <a:tab pos="8631555" algn="l"/>
              </a:tabLst>
            </a:pPr>
            <a:r>
              <a:rPr dirty="0" u="heavy" sz="1750" spc="-25">
                <a:solidFill>
                  <a:srgbClr val="2B2E3C"/>
                </a:solidFill>
                <a:uFill>
                  <a:solidFill>
                    <a:srgbClr val="D25F0F"/>
                  </a:solidFill>
                </a:uFill>
                <a:latin typeface="Arial Unicode MS"/>
                <a:cs typeface="Arial Unicode MS"/>
              </a:rPr>
              <a:t>02</a:t>
            </a:r>
            <a:r>
              <a:rPr dirty="0" u="heavy" sz="1750">
                <a:solidFill>
                  <a:srgbClr val="2B2E3C"/>
                </a:solidFill>
                <a:uFill>
                  <a:solidFill>
                    <a:srgbClr val="D25F0F"/>
                  </a:solidFill>
                </a:uFill>
                <a:latin typeface="Arial"/>
                <a:cs typeface="Arial"/>
              </a:rPr>
              <a:t>	</a:t>
            </a:r>
            <a:r>
              <a:rPr dirty="0" sz="1750">
                <a:solidFill>
                  <a:srgbClr val="2B2E3C"/>
                </a:solidFill>
                <a:latin typeface="Arial"/>
                <a:cs typeface="Arial"/>
              </a:rPr>
              <a:t>	</a:t>
            </a:r>
            <a:r>
              <a:rPr dirty="0" u="heavy" sz="1750" spc="-25">
                <a:solidFill>
                  <a:srgbClr val="2B2E3C"/>
                </a:solidFill>
                <a:uFill>
                  <a:solidFill>
                    <a:srgbClr val="D25F0F"/>
                  </a:solidFill>
                </a:uFill>
                <a:latin typeface="Arial Unicode MS"/>
                <a:cs typeface="Arial Unicode MS"/>
              </a:rPr>
              <a:t>03</a:t>
            </a:r>
            <a:r>
              <a:rPr dirty="0" u="heavy" sz="1750">
                <a:solidFill>
                  <a:srgbClr val="2B2E3C"/>
                </a:solidFill>
                <a:uFill>
                  <a:solidFill>
                    <a:srgbClr val="D25F0F"/>
                  </a:solidFill>
                </a:uFill>
                <a:latin typeface="Arial"/>
                <a:cs typeface="Arial"/>
              </a:rPr>
              <a:t>	</a:t>
            </a:r>
            <a:endParaRPr sz="1750">
              <a:latin typeface="Arial"/>
              <a:cs typeface="Arial"/>
            </a:endParaRPr>
          </a:p>
          <a:p>
            <a:pPr marL="12700" marR="744855">
              <a:lnSpc>
                <a:spcPct val="103800"/>
              </a:lnSpc>
              <a:spcBef>
                <a:spcPts val="1320"/>
              </a:spcBef>
              <a:tabLst>
                <a:tab pos="4435475" algn="l"/>
              </a:tabLst>
            </a:pPr>
            <a:r>
              <a:rPr dirty="0" sz="2650" spc="114">
                <a:solidFill>
                  <a:srgbClr val="2B2E3C"/>
                </a:solidFill>
                <a:latin typeface="Arial Unicode MS"/>
                <a:cs typeface="Arial Unicode MS"/>
              </a:rPr>
              <a:t>Identify</a:t>
            </a:r>
            <a:r>
              <a:rPr dirty="0" sz="2650" spc="3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650" spc="155">
                <a:solidFill>
                  <a:srgbClr val="2B2E3C"/>
                </a:solidFill>
                <a:latin typeface="Arial Unicode MS"/>
                <a:cs typeface="Arial Unicode MS"/>
              </a:rPr>
              <a:t>&amp;</a:t>
            </a:r>
            <a:r>
              <a:rPr dirty="0" sz="2650" spc="3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650" spc="-10">
                <a:solidFill>
                  <a:srgbClr val="2B2E3C"/>
                </a:solidFill>
                <a:latin typeface="Arial Unicode MS"/>
                <a:cs typeface="Arial Unicode MS"/>
              </a:rPr>
              <a:t>Remove</a:t>
            </a:r>
            <a:r>
              <a:rPr dirty="0" sz="2650">
                <a:solidFill>
                  <a:srgbClr val="2B2E3C"/>
                </a:solidFill>
                <a:latin typeface="Arial"/>
                <a:cs typeface="Arial"/>
              </a:rPr>
              <a:t>	</a:t>
            </a:r>
            <a:r>
              <a:rPr dirty="0" sz="2650" spc="50">
                <a:solidFill>
                  <a:srgbClr val="2B2E3C"/>
                </a:solidFill>
                <a:latin typeface="Arial Unicode MS"/>
                <a:cs typeface="Arial Unicode MS"/>
              </a:rPr>
              <a:t>Standardize</a:t>
            </a:r>
            <a:r>
              <a:rPr dirty="0" sz="2650" spc="2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650" spc="155">
                <a:solidFill>
                  <a:srgbClr val="2B2E3C"/>
                </a:solidFill>
                <a:latin typeface="Arial Unicode MS"/>
                <a:cs typeface="Arial Unicode MS"/>
              </a:rPr>
              <a:t>&amp;</a:t>
            </a:r>
            <a:r>
              <a:rPr dirty="0" sz="2650" spc="3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650" spc="-10">
                <a:solidFill>
                  <a:srgbClr val="2B2E3C"/>
                </a:solidFill>
                <a:latin typeface="Arial Unicode MS"/>
                <a:cs typeface="Arial Unicode MS"/>
              </a:rPr>
              <a:t>Correct</a:t>
            </a:r>
            <a:r>
              <a:rPr dirty="0" sz="2650" spc="-1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650" spc="50">
                <a:solidFill>
                  <a:srgbClr val="2B2E3C"/>
                </a:solidFill>
                <a:latin typeface="Arial Unicode MS"/>
                <a:cs typeface="Arial Unicode MS"/>
              </a:rPr>
              <a:t>Duplicates</a:t>
            </a:r>
            <a:r>
              <a:rPr dirty="0" sz="2650">
                <a:solidFill>
                  <a:srgbClr val="2B2E3C"/>
                </a:solidFill>
                <a:latin typeface="Arial"/>
                <a:cs typeface="Arial"/>
              </a:rPr>
              <a:t>	</a:t>
            </a:r>
            <a:r>
              <a:rPr dirty="0" sz="2650" spc="35">
                <a:solidFill>
                  <a:srgbClr val="2B2E3C"/>
                </a:solidFill>
                <a:latin typeface="Arial Unicode MS"/>
                <a:cs typeface="Arial Unicode MS"/>
              </a:rPr>
              <a:t>Data</a:t>
            </a:r>
            <a:endParaRPr sz="2650">
              <a:latin typeface="Arial Unicode MS"/>
              <a:cs typeface="Arial Unicode MS"/>
            </a:endParaRPr>
          </a:p>
          <a:p>
            <a:pPr marL="12700" marR="118110">
              <a:lnSpc>
                <a:spcPct val="135700"/>
              </a:lnSpc>
              <a:spcBef>
                <a:spcPts val="1170"/>
              </a:spcBef>
              <a:tabLst>
                <a:tab pos="4435475" algn="l"/>
              </a:tabLst>
            </a:pPr>
            <a:r>
              <a:rPr dirty="0" sz="1750" spc="65">
                <a:solidFill>
                  <a:srgbClr val="2B2E3C"/>
                </a:solidFill>
                <a:latin typeface="Arial Unicode MS"/>
                <a:cs typeface="Arial Unicode MS"/>
              </a:rPr>
              <a:t>Pinpoint</a:t>
            </a:r>
            <a:r>
              <a:rPr dirty="0" sz="1750" spc="3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65">
                <a:solidFill>
                  <a:srgbClr val="2B2E3C"/>
                </a:solidFill>
                <a:latin typeface="Arial Unicode MS"/>
                <a:cs typeface="Arial Unicode MS"/>
              </a:rPr>
              <a:t>and</a:t>
            </a:r>
            <a:r>
              <a:rPr dirty="0" sz="1750" spc="3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65">
                <a:solidFill>
                  <a:srgbClr val="2B2E3C"/>
                </a:solidFill>
                <a:latin typeface="Arial Unicode MS"/>
                <a:cs typeface="Arial Unicode MS"/>
              </a:rPr>
              <a:t>eliminate</a:t>
            </a:r>
            <a:r>
              <a:rPr dirty="0" sz="1750" spc="3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70">
                <a:solidFill>
                  <a:srgbClr val="2B2E3C"/>
                </a:solidFill>
                <a:latin typeface="Arial Unicode MS"/>
                <a:cs typeface="Arial Unicode MS"/>
              </a:rPr>
              <a:t>redundant</a:t>
            </a:r>
            <a:r>
              <a:rPr dirty="0" sz="1750">
                <a:solidFill>
                  <a:srgbClr val="2B2E3C"/>
                </a:solidFill>
                <a:latin typeface="Arial"/>
                <a:cs typeface="Arial"/>
              </a:rPr>
              <a:t>	</a:t>
            </a:r>
            <a:r>
              <a:rPr dirty="0" sz="1750" spc="55">
                <a:solidFill>
                  <a:srgbClr val="2B2E3C"/>
                </a:solidFill>
                <a:latin typeface="Arial Unicode MS"/>
                <a:cs typeface="Arial Unicode MS"/>
              </a:rPr>
              <a:t>Unify</a:t>
            </a:r>
            <a:r>
              <a:rPr dirty="0" sz="1750" spc="3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0">
                <a:solidFill>
                  <a:srgbClr val="2B2E3C"/>
                </a:solidFill>
                <a:latin typeface="Arial Unicode MS"/>
                <a:cs typeface="Arial Unicode MS"/>
              </a:rPr>
              <a:t>inconsistent</a:t>
            </a:r>
            <a:r>
              <a:rPr dirty="0" sz="1750" spc="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0">
                <a:solidFill>
                  <a:srgbClr val="2B2E3C"/>
                </a:solidFill>
                <a:latin typeface="Arial Unicode MS"/>
                <a:cs typeface="Arial Unicode MS"/>
              </a:rPr>
              <a:t>formats</a:t>
            </a:r>
            <a:r>
              <a:rPr dirty="0" sz="1750" spc="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60">
                <a:solidFill>
                  <a:srgbClr val="2B2E3C"/>
                </a:solidFill>
                <a:latin typeface="Arial Unicode MS"/>
                <a:cs typeface="Arial Unicode MS"/>
              </a:rPr>
              <a:t>and</a:t>
            </a:r>
            <a:r>
              <a:rPr dirty="0" sz="1750" spc="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40">
                <a:solidFill>
                  <a:srgbClr val="2B2E3C"/>
                </a:solidFill>
                <a:latin typeface="Arial Unicode MS"/>
                <a:cs typeface="Arial Unicode MS"/>
              </a:rPr>
              <a:t>rectify</a:t>
            </a:r>
            <a:r>
              <a:rPr dirty="0" sz="1750" spc="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60">
                <a:solidFill>
                  <a:srgbClr val="2B2E3C"/>
                </a:solidFill>
                <a:latin typeface="Arial Unicode MS"/>
                <a:cs typeface="Arial Unicode MS"/>
              </a:rPr>
              <a:t>entries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90">
                <a:solidFill>
                  <a:srgbClr val="2B2E3C"/>
                </a:solidFill>
                <a:latin typeface="Arial Unicode MS"/>
                <a:cs typeface="Arial Unicode MS"/>
              </a:rPr>
              <a:t>that</a:t>
            </a:r>
            <a:r>
              <a:rPr dirty="0" sz="1750" spc="6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can</a:t>
            </a:r>
            <a:r>
              <a:rPr dirty="0" sz="1750" spc="6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skew</a:t>
            </a:r>
            <a:r>
              <a:rPr dirty="0" sz="1750" spc="6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B2E3C"/>
                </a:solidFill>
                <a:latin typeface="Arial Unicode MS"/>
                <a:cs typeface="Arial Unicode MS"/>
              </a:rPr>
              <a:t>analysis.</a:t>
            </a:r>
            <a:r>
              <a:rPr dirty="0" sz="1750">
                <a:solidFill>
                  <a:srgbClr val="2B2E3C"/>
                </a:solidFill>
                <a:latin typeface="Arial"/>
                <a:cs typeface="Arial"/>
              </a:rPr>
              <a:t>	</a:t>
            </a:r>
            <a:r>
              <a:rPr dirty="0" sz="1750" spc="65">
                <a:solidFill>
                  <a:srgbClr val="2B2E3C"/>
                </a:solidFill>
                <a:latin typeface="Arial Unicode MS"/>
                <a:cs typeface="Arial Unicode MS"/>
              </a:rPr>
              <a:t>errors</a:t>
            </a:r>
            <a:r>
              <a:rPr dirty="0" sz="1750" spc="3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05">
                <a:solidFill>
                  <a:srgbClr val="2B2E3C"/>
                </a:solidFill>
                <a:latin typeface="Arial Unicode MS"/>
                <a:cs typeface="Arial Unicode MS"/>
              </a:rPr>
              <a:t>for</a:t>
            </a:r>
            <a:r>
              <a:rPr dirty="0" sz="1750" spc="3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05">
                <a:solidFill>
                  <a:srgbClr val="2B2E3C"/>
                </a:solidFill>
                <a:latin typeface="Arial Unicode MS"/>
                <a:cs typeface="Arial Unicode MS"/>
              </a:rPr>
              <a:t>uniform</a:t>
            </a:r>
            <a:r>
              <a:rPr dirty="0" sz="1750" spc="3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5">
                <a:solidFill>
                  <a:srgbClr val="2B2E3C"/>
                </a:solidFill>
                <a:latin typeface="Arial Unicode MS"/>
                <a:cs typeface="Arial Unicode MS"/>
              </a:rPr>
              <a:t>data</a:t>
            </a:r>
            <a:r>
              <a:rPr dirty="0" sz="1750" spc="3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B2E3C"/>
                </a:solidFill>
                <a:latin typeface="Arial Unicode MS"/>
                <a:cs typeface="Arial Unicode MS"/>
              </a:rPr>
              <a:t>representation.</a:t>
            </a:r>
            <a:endParaRPr sz="1750">
              <a:latin typeface="Arial Unicode MS"/>
              <a:cs typeface="Arial Unicode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80747" y="4913416"/>
            <a:ext cx="6433185" cy="186499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6419850" algn="l"/>
              </a:tabLst>
            </a:pPr>
            <a:r>
              <a:rPr dirty="0" u="heavy" sz="1750" spc="-25">
                <a:solidFill>
                  <a:srgbClr val="2B2E3C"/>
                </a:solidFill>
                <a:uFill>
                  <a:solidFill>
                    <a:srgbClr val="D25F0F"/>
                  </a:solidFill>
                </a:uFill>
                <a:latin typeface="Arial Unicode MS"/>
                <a:cs typeface="Arial Unicode MS"/>
              </a:rPr>
              <a:t>04</a:t>
            </a:r>
            <a:r>
              <a:rPr dirty="0" u="heavy" sz="1750">
                <a:solidFill>
                  <a:srgbClr val="2B2E3C"/>
                </a:solidFill>
                <a:uFill>
                  <a:solidFill>
                    <a:srgbClr val="D25F0F"/>
                  </a:solidFill>
                </a:uFill>
                <a:latin typeface="Arial"/>
                <a:cs typeface="Arial"/>
              </a:rPr>
              <a:t>	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2650">
                <a:solidFill>
                  <a:srgbClr val="2B2E3C"/>
                </a:solidFill>
                <a:latin typeface="Arial Unicode MS"/>
                <a:cs typeface="Arial Unicode MS"/>
              </a:rPr>
              <a:t>Address</a:t>
            </a:r>
            <a:r>
              <a:rPr dirty="0" sz="2650" spc="1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650" spc="100">
                <a:solidFill>
                  <a:srgbClr val="2B2E3C"/>
                </a:solidFill>
                <a:latin typeface="Arial Unicode MS"/>
                <a:cs typeface="Arial Unicode MS"/>
              </a:rPr>
              <a:t>Null</a:t>
            </a:r>
            <a:r>
              <a:rPr dirty="0" sz="2650" spc="1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650" spc="-10">
                <a:solidFill>
                  <a:srgbClr val="2B2E3C"/>
                </a:solidFill>
                <a:latin typeface="Arial Unicode MS"/>
                <a:cs typeface="Arial Unicode MS"/>
              </a:rPr>
              <a:t>Values</a:t>
            </a:r>
            <a:endParaRPr sz="2650">
              <a:latin typeface="Arial Unicode MS"/>
              <a:cs typeface="Arial Unicode MS"/>
            </a:endParaRPr>
          </a:p>
          <a:p>
            <a:pPr marL="12700" marR="15240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Strategically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60">
                <a:solidFill>
                  <a:srgbClr val="2B2E3C"/>
                </a:solidFill>
                <a:latin typeface="Arial Unicode MS"/>
                <a:cs typeface="Arial Unicode MS"/>
              </a:rPr>
              <a:t>handle</a:t>
            </a:r>
            <a:r>
              <a:rPr dirty="0" sz="1750" spc="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5">
                <a:solidFill>
                  <a:srgbClr val="2B2E3C"/>
                </a:solidFill>
                <a:latin typeface="Arial Unicode MS"/>
                <a:cs typeface="Arial Unicode MS"/>
              </a:rPr>
              <a:t>missing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5">
                <a:solidFill>
                  <a:srgbClr val="2B2E3C"/>
                </a:solidFill>
                <a:latin typeface="Arial Unicode MS"/>
                <a:cs typeface="Arial Unicode MS"/>
              </a:rPr>
              <a:t>data</a:t>
            </a:r>
            <a:r>
              <a:rPr dirty="0" sz="1750" spc="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5">
                <a:solidFill>
                  <a:srgbClr val="2B2E3C"/>
                </a:solidFill>
                <a:latin typeface="Arial Unicode MS"/>
                <a:cs typeface="Arial Unicode MS"/>
              </a:rPr>
              <a:t>points,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70">
                <a:solidFill>
                  <a:srgbClr val="2B2E3C"/>
                </a:solidFill>
                <a:latin typeface="Arial Unicode MS"/>
                <a:cs typeface="Arial Unicode MS"/>
              </a:rPr>
              <a:t>either</a:t>
            </a:r>
            <a:r>
              <a:rPr dirty="0" sz="1750" spc="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by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0">
                <a:solidFill>
                  <a:srgbClr val="2B2E3C"/>
                </a:solidFill>
                <a:latin typeface="Arial Unicode MS"/>
                <a:cs typeface="Arial Unicode MS"/>
              </a:rPr>
              <a:t>imputation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00">
                <a:solidFill>
                  <a:srgbClr val="2B2E3C"/>
                </a:solidFill>
                <a:latin typeface="Arial Unicode MS"/>
                <a:cs typeface="Arial Unicode MS"/>
              </a:rPr>
              <a:t>or</a:t>
            </a:r>
            <a:r>
              <a:rPr dirty="0" sz="1750" spc="2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B2E3C"/>
                </a:solidFill>
                <a:latin typeface="Arial Unicode MS"/>
                <a:cs typeface="Arial Unicode MS"/>
              </a:rPr>
              <a:t>removal.</a:t>
            </a:r>
            <a:endParaRPr sz="1750">
              <a:latin typeface="Arial Unicode MS"/>
              <a:cs typeface="Arial Unicode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415542" y="4913416"/>
            <a:ext cx="6433185" cy="186499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  <a:tabLst>
                <a:tab pos="6419850" algn="l"/>
              </a:tabLst>
            </a:pPr>
            <a:r>
              <a:rPr dirty="0" u="heavy" sz="1750" spc="-25">
                <a:solidFill>
                  <a:srgbClr val="2B2E3C"/>
                </a:solidFill>
                <a:uFill>
                  <a:solidFill>
                    <a:srgbClr val="D25F0F"/>
                  </a:solidFill>
                </a:uFill>
                <a:latin typeface="Arial Unicode MS"/>
                <a:cs typeface="Arial Unicode MS"/>
              </a:rPr>
              <a:t>05</a:t>
            </a:r>
            <a:r>
              <a:rPr dirty="0" u="heavy" sz="1750">
                <a:solidFill>
                  <a:srgbClr val="2B2E3C"/>
                </a:solidFill>
                <a:uFill>
                  <a:solidFill>
                    <a:srgbClr val="D25F0F"/>
                  </a:solidFill>
                </a:uFill>
                <a:latin typeface="Arial"/>
                <a:cs typeface="Arial"/>
              </a:rPr>
              <a:t>	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dirty="0" sz="2650">
                <a:solidFill>
                  <a:srgbClr val="2B2E3C"/>
                </a:solidFill>
                <a:latin typeface="Arial Unicode MS"/>
                <a:cs typeface="Arial Unicode MS"/>
              </a:rPr>
              <a:t>Refine</a:t>
            </a:r>
            <a:r>
              <a:rPr dirty="0" sz="2650" spc="12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650" spc="50">
                <a:solidFill>
                  <a:srgbClr val="2B2E3C"/>
                </a:solidFill>
                <a:latin typeface="Arial Unicode MS"/>
                <a:cs typeface="Arial Unicode MS"/>
              </a:rPr>
              <a:t>Dataset</a:t>
            </a:r>
            <a:r>
              <a:rPr dirty="0" sz="2650" spc="12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650" spc="65">
                <a:solidFill>
                  <a:srgbClr val="2B2E3C"/>
                </a:solidFill>
                <a:latin typeface="Arial Unicode MS"/>
                <a:cs typeface="Arial Unicode MS"/>
              </a:rPr>
              <a:t>Structure</a:t>
            </a:r>
            <a:endParaRPr sz="2650">
              <a:latin typeface="Arial Unicode MS"/>
              <a:cs typeface="Arial Unicode MS"/>
            </a:endParaRPr>
          </a:p>
          <a:p>
            <a:pPr marL="12700" marR="581025">
              <a:lnSpc>
                <a:spcPct val="135700"/>
              </a:lnSpc>
              <a:spcBef>
                <a:spcPts val="1120"/>
              </a:spcBef>
            </a:pP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Remove</a:t>
            </a:r>
            <a:r>
              <a:rPr dirty="0" sz="1750" spc="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unnecessary</a:t>
            </a:r>
            <a:r>
              <a:rPr dirty="0" sz="1750" spc="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65">
                <a:solidFill>
                  <a:srgbClr val="2B2E3C"/>
                </a:solidFill>
                <a:latin typeface="Arial Unicode MS"/>
                <a:cs typeface="Arial Unicode MS"/>
              </a:rPr>
              <a:t>columns</a:t>
            </a:r>
            <a:r>
              <a:rPr dirty="0" sz="1750" spc="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05">
                <a:solidFill>
                  <a:srgbClr val="2B2E3C"/>
                </a:solidFill>
                <a:latin typeface="Arial Unicode MS"/>
                <a:cs typeface="Arial Unicode MS"/>
              </a:rPr>
              <a:t>or</a:t>
            </a:r>
            <a:r>
              <a:rPr dirty="0" sz="1750" spc="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0">
                <a:solidFill>
                  <a:srgbClr val="2B2E3C"/>
                </a:solidFill>
                <a:latin typeface="Arial Unicode MS"/>
                <a:cs typeface="Arial Unicode MS"/>
              </a:rPr>
              <a:t>rows</a:t>
            </a:r>
            <a:r>
              <a:rPr dirty="0" sz="1750" spc="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05">
                <a:solidFill>
                  <a:srgbClr val="2B2E3C"/>
                </a:solidFill>
                <a:latin typeface="Arial Unicode MS"/>
                <a:cs typeface="Arial Unicode MS"/>
              </a:rPr>
              <a:t>to</a:t>
            </a:r>
            <a:r>
              <a:rPr dirty="0" sz="1750" spc="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60">
                <a:solidFill>
                  <a:srgbClr val="2B2E3C"/>
                </a:solidFill>
                <a:latin typeface="Arial Unicode MS"/>
                <a:cs typeface="Arial Unicode MS"/>
              </a:rPr>
              <a:t>streamline</a:t>
            </a:r>
            <a:r>
              <a:rPr dirty="0" sz="1750" spc="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2B2E3C"/>
                </a:solidFill>
                <a:latin typeface="Arial Unicode MS"/>
                <a:cs typeface="Arial Unicode MS"/>
              </a:rPr>
              <a:t>the</a:t>
            </a:r>
            <a:r>
              <a:rPr dirty="0" sz="1750" spc="-2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0">
                <a:solidFill>
                  <a:srgbClr val="2B2E3C"/>
                </a:solidFill>
                <a:latin typeface="Arial Unicode MS"/>
                <a:cs typeface="Arial Unicode MS"/>
              </a:rPr>
              <a:t>dataset</a:t>
            </a:r>
            <a:r>
              <a:rPr dirty="0" sz="1750" spc="2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05">
                <a:solidFill>
                  <a:srgbClr val="2B2E3C"/>
                </a:solidFill>
                <a:latin typeface="Arial Unicode MS"/>
                <a:cs typeface="Arial Unicode MS"/>
              </a:rPr>
              <a:t>for</a:t>
            </a:r>
            <a:r>
              <a:rPr dirty="0" sz="1750" spc="2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B2E3C"/>
                </a:solidFill>
                <a:latin typeface="Arial Unicode MS"/>
                <a:cs typeface="Arial Unicode MS"/>
              </a:rPr>
              <a:t>analysis.</a:t>
            </a:r>
            <a:endParaRPr sz="1750">
              <a:latin typeface="Arial Unicode MS"/>
              <a:cs typeface="Arial Unicode MS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2742189" y="7741856"/>
            <a:ext cx="1799589" cy="410209"/>
          </a:xfrm>
          <a:custGeom>
            <a:avLst/>
            <a:gdLst/>
            <a:ahLst/>
            <a:cxnLst/>
            <a:rect l="l" t="t" r="r" b="b"/>
            <a:pathLst>
              <a:path w="1799590" h="410209">
                <a:moveTo>
                  <a:pt x="1799336" y="135572"/>
                </a:moveTo>
                <a:lnTo>
                  <a:pt x="1788045" y="135572"/>
                </a:lnTo>
                <a:lnTo>
                  <a:pt x="1788045" y="0"/>
                </a:lnTo>
                <a:lnTo>
                  <a:pt x="1513903" y="0"/>
                </a:lnTo>
                <a:lnTo>
                  <a:pt x="274142" y="0"/>
                </a:lnTo>
                <a:lnTo>
                  <a:pt x="0" y="0"/>
                </a:lnTo>
                <a:lnTo>
                  <a:pt x="0" y="274142"/>
                </a:lnTo>
                <a:lnTo>
                  <a:pt x="45199" y="274142"/>
                </a:lnTo>
                <a:lnTo>
                  <a:pt x="45199" y="409714"/>
                </a:lnTo>
                <a:lnTo>
                  <a:pt x="319341" y="409714"/>
                </a:lnTo>
                <a:lnTo>
                  <a:pt x="1525193" y="409714"/>
                </a:lnTo>
                <a:lnTo>
                  <a:pt x="1799336" y="409714"/>
                </a:lnTo>
                <a:lnTo>
                  <a:pt x="1799336" y="1355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715">
              <a:lnSpc>
                <a:spcPct val="100000"/>
              </a:lnSpc>
              <a:spcBef>
                <a:spcPts val="100"/>
              </a:spcBef>
            </a:pPr>
            <a:r>
              <a:rPr dirty="0" sz="2650"/>
              <a:t>Step</a:t>
            </a:r>
            <a:r>
              <a:rPr dirty="0" sz="2650" spc="55">
                <a:latin typeface="Arial"/>
                <a:cs typeface="Arial"/>
              </a:rPr>
              <a:t> </a:t>
            </a:r>
            <a:r>
              <a:rPr dirty="0" sz="2650"/>
              <a:t>1:</a:t>
            </a:r>
            <a:r>
              <a:rPr dirty="0" sz="2650" spc="70">
                <a:latin typeface="Arial"/>
                <a:cs typeface="Arial"/>
              </a:rPr>
              <a:t> </a:t>
            </a:r>
            <a:r>
              <a:rPr dirty="0" sz="2650" spc="60"/>
              <a:t>Staging</a:t>
            </a:r>
            <a:r>
              <a:rPr dirty="0" sz="2650" spc="65">
                <a:latin typeface="Arial"/>
                <a:cs typeface="Arial"/>
              </a:rPr>
              <a:t> </a:t>
            </a:r>
            <a:r>
              <a:rPr dirty="0" sz="2650"/>
              <a:t>Your</a:t>
            </a:r>
            <a:r>
              <a:rPr dirty="0" sz="2650" spc="70">
                <a:latin typeface="Arial"/>
                <a:cs typeface="Arial"/>
              </a:rPr>
              <a:t> </a:t>
            </a:r>
            <a:r>
              <a:rPr dirty="0" sz="2650" spc="-20"/>
              <a:t>Data</a:t>
            </a:r>
            <a:endParaRPr sz="26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84899" y="1323251"/>
            <a:ext cx="202818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2C3F41"/>
                </a:solidFill>
                <a:latin typeface="Arial Unicode MS"/>
                <a:cs typeface="Arial Unicode MS"/>
              </a:rPr>
              <a:t>Why</a:t>
            </a:r>
            <a:r>
              <a:rPr dirty="0" sz="2000" spc="80">
                <a:solidFill>
                  <a:srgbClr val="2C3F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C3F41"/>
                </a:solidFill>
                <a:latin typeface="Arial Unicode MS"/>
                <a:cs typeface="Arial Unicode MS"/>
              </a:rPr>
              <a:t>Stage</a:t>
            </a:r>
            <a:r>
              <a:rPr dirty="0" sz="2000" spc="85">
                <a:solidFill>
                  <a:srgbClr val="2C3F41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C3F41"/>
                </a:solidFill>
                <a:latin typeface="Arial Unicode MS"/>
                <a:cs typeface="Arial Unicode MS"/>
              </a:rPr>
              <a:t>Data?</a:t>
            </a:r>
            <a:endParaRPr sz="2000">
              <a:latin typeface="Arial Unicode MS"/>
              <a:cs typeface="Arial Unicode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84899" y="1849221"/>
            <a:ext cx="844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5">
                <a:solidFill>
                  <a:srgbClr val="2B2E3C"/>
                </a:solidFill>
                <a:latin typeface="Arial"/>
                <a:cs typeface="Arial"/>
              </a:rPr>
              <a:t>•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4899" y="2182584"/>
            <a:ext cx="844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5">
                <a:solidFill>
                  <a:srgbClr val="2B2E3C"/>
                </a:solidFill>
                <a:latin typeface="Arial"/>
                <a:cs typeface="Arial"/>
              </a:rPr>
              <a:t>•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4899" y="2515578"/>
            <a:ext cx="8445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5">
                <a:solidFill>
                  <a:srgbClr val="2B2E3C"/>
                </a:solidFill>
                <a:latin typeface="Arial"/>
                <a:cs typeface="Arial"/>
              </a:rPr>
              <a:t>•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27977" y="1876577"/>
            <a:ext cx="2164715" cy="8902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B2E3C"/>
                </a:solidFill>
                <a:latin typeface="Arial Unicode MS"/>
                <a:cs typeface="Arial Unicode MS"/>
              </a:rPr>
              <a:t>Preserve</a:t>
            </a:r>
            <a:r>
              <a:rPr dirty="0" sz="1300" spc="12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Arial Unicode MS"/>
                <a:cs typeface="Arial Unicode MS"/>
              </a:rPr>
              <a:t>raw</a:t>
            </a:r>
            <a:r>
              <a:rPr dirty="0" sz="1300" spc="13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Arial Unicode MS"/>
                <a:cs typeface="Arial Unicode MS"/>
              </a:rPr>
              <a:t>data</a:t>
            </a:r>
            <a:r>
              <a:rPr dirty="0" sz="1300" spc="13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2B2E3C"/>
                </a:solidFill>
                <a:latin typeface="Arial Unicode MS"/>
                <a:cs typeface="Arial Unicode MS"/>
              </a:rPr>
              <a:t>source.</a:t>
            </a:r>
            <a:endParaRPr sz="1300">
              <a:latin typeface="Arial Unicode MS"/>
              <a:cs typeface="Arial Unicode MS"/>
            </a:endParaRPr>
          </a:p>
          <a:p>
            <a:pPr marL="12700" marR="5080">
              <a:lnSpc>
                <a:spcPct val="168100"/>
              </a:lnSpc>
            </a:pPr>
            <a:r>
              <a:rPr dirty="0" sz="1300">
                <a:solidFill>
                  <a:srgbClr val="2B2E3C"/>
                </a:solidFill>
                <a:latin typeface="Arial Unicode MS"/>
                <a:cs typeface="Arial Unicode MS"/>
              </a:rPr>
              <a:t>Isolate</a:t>
            </a:r>
            <a:r>
              <a:rPr dirty="0" sz="1300" spc="26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Arial Unicode MS"/>
                <a:cs typeface="Arial Unicode MS"/>
              </a:rPr>
              <a:t>cleaning</a:t>
            </a:r>
            <a:r>
              <a:rPr dirty="0" sz="1300" spc="26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2B2E3C"/>
                </a:solidFill>
                <a:latin typeface="Arial Unicode MS"/>
                <a:cs typeface="Arial Unicode MS"/>
              </a:rPr>
              <a:t>operations.</a:t>
            </a:r>
            <a:r>
              <a:rPr dirty="0" sz="1300" spc="-1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Arial Unicode MS"/>
                <a:cs typeface="Arial Unicode MS"/>
              </a:rPr>
              <a:t>Facilitate</a:t>
            </a:r>
            <a:r>
              <a:rPr dirty="0" sz="1300" spc="28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Arial Unicode MS"/>
                <a:cs typeface="Arial Unicode MS"/>
              </a:rPr>
              <a:t>iterative</a:t>
            </a:r>
            <a:r>
              <a:rPr dirty="0" sz="1300" spc="2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2B2E3C"/>
                </a:solidFill>
                <a:latin typeface="Arial Unicode MS"/>
                <a:cs typeface="Arial Unicode MS"/>
              </a:rPr>
              <a:t>cleaning.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4899" y="2924898"/>
            <a:ext cx="125539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2C3F41"/>
                </a:solidFill>
                <a:latin typeface="Arial Unicode MS"/>
                <a:cs typeface="Arial Unicode MS"/>
              </a:rPr>
              <a:t>GML</a:t>
            </a:r>
            <a:r>
              <a:rPr dirty="0" sz="2000" spc="-15">
                <a:solidFill>
                  <a:srgbClr val="2C3F41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2C3F41"/>
                </a:solidFill>
                <a:latin typeface="Arial Unicode MS"/>
                <a:cs typeface="Arial Unicode MS"/>
              </a:rPr>
              <a:t>Code</a:t>
            </a:r>
            <a:endParaRPr sz="2000">
              <a:latin typeface="Arial Unicode MS"/>
              <a:cs typeface="Arial Unicode MS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589318" y="3437280"/>
            <a:ext cx="6525895" cy="1896745"/>
          </a:xfrm>
          <a:custGeom>
            <a:avLst/>
            <a:gdLst/>
            <a:ahLst/>
            <a:cxnLst/>
            <a:rect l="l" t="t" r="r" b="b"/>
            <a:pathLst>
              <a:path w="6525895" h="1896745">
                <a:moveTo>
                  <a:pt x="6525717" y="1870557"/>
                </a:moveTo>
                <a:lnTo>
                  <a:pt x="6525361" y="21234"/>
                </a:lnTo>
                <a:lnTo>
                  <a:pt x="6512763" y="3594"/>
                </a:lnTo>
                <a:lnTo>
                  <a:pt x="6508801" y="1079"/>
                </a:lnTo>
                <a:lnTo>
                  <a:pt x="6504127" y="0"/>
                </a:lnTo>
                <a:lnTo>
                  <a:pt x="6445085" y="0"/>
                </a:lnTo>
                <a:lnTo>
                  <a:pt x="79921" y="0"/>
                </a:lnTo>
                <a:lnTo>
                  <a:pt x="21247" y="0"/>
                </a:lnTo>
                <a:lnTo>
                  <a:pt x="16560" y="1079"/>
                </a:lnTo>
                <a:lnTo>
                  <a:pt x="12954" y="3238"/>
                </a:lnTo>
                <a:lnTo>
                  <a:pt x="9004" y="5765"/>
                </a:lnTo>
                <a:lnTo>
                  <a:pt x="5765" y="9004"/>
                </a:lnTo>
                <a:lnTo>
                  <a:pt x="3606" y="12598"/>
                </a:lnTo>
                <a:lnTo>
                  <a:pt x="1066" y="16560"/>
                </a:lnTo>
                <a:lnTo>
                  <a:pt x="0" y="21234"/>
                </a:lnTo>
                <a:lnTo>
                  <a:pt x="0" y="1875243"/>
                </a:lnTo>
                <a:lnTo>
                  <a:pt x="12585" y="1892884"/>
                </a:lnTo>
                <a:lnTo>
                  <a:pt x="16560" y="1895398"/>
                </a:lnTo>
                <a:lnTo>
                  <a:pt x="21247" y="1896478"/>
                </a:lnTo>
                <a:lnTo>
                  <a:pt x="79870" y="1896478"/>
                </a:lnTo>
                <a:lnTo>
                  <a:pt x="3252711" y="1896313"/>
                </a:lnTo>
                <a:lnTo>
                  <a:pt x="6504483" y="1896122"/>
                </a:lnTo>
                <a:lnTo>
                  <a:pt x="6522123" y="1883524"/>
                </a:lnTo>
                <a:lnTo>
                  <a:pt x="6524638" y="1879561"/>
                </a:lnTo>
                <a:lnTo>
                  <a:pt x="6525628" y="1875243"/>
                </a:lnTo>
                <a:lnTo>
                  <a:pt x="6525717" y="1870557"/>
                </a:lnTo>
                <a:close/>
              </a:path>
            </a:pathLst>
          </a:custGeom>
          <a:solidFill>
            <a:srgbClr val="F2EB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47623" y="3552736"/>
            <a:ext cx="3382645" cy="10172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spc="-25">
                <a:solidFill>
                  <a:srgbClr val="2B2E3C"/>
                </a:solidFill>
                <a:latin typeface="DejaVu Sans Mono"/>
                <a:cs typeface="DejaVu Sans Mono"/>
              </a:rPr>
              <a:t>CREATE</a:t>
            </a:r>
            <a:r>
              <a:rPr dirty="0" sz="1300" spc="-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-35">
                <a:solidFill>
                  <a:srgbClr val="2B2E3C"/>
                </a:solidFill>
                <a:latin typeface="DejaVu Sans Mono"/>
                <a:cs typeface="DejaVu Sans Mono"/>
              </a:rPr>
              <a:t>TABLE</a:t>
            </a:r>
            <a:r>
              <a:rPr dirty="0" sz="1300" spc="-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DejaVu Sans Mono"/>
                <a:cs typeface="DejaVu Sans Mono"/>
              </a:rPr>
              <a:t>w</a:t>
            </a:r>
            <a:r>
              <a:rPr dirty="0" sz="1300" spc="-8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-170">
                <a:solidFill>
                  <a:srgbClr val="2B2E3C"/>
                </a:solidFill>
                <a:latin typeface="DejaVu Sans Mono"/>
                <a:cs typeface="DejaVu Sans Mono"/>
              </a:rPr>
              <a:t>orld_layo</a:t>
            </a:r>
            <a:r>
              <a:rPr dirty="0" sz="1300" spc="7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-225" b="1">
                <a:solidFill>
                  <a:srgbClr val="2B2E3C"/>
                </a:solidFill>
                <a:latin typeface="DejaVu Sans Mono"/>
                <a:cs typeface="DejaVu Sans Mono"/>
              </a:rPr>
              <a:t>f</a:t>
            </a:r>
            <a:r>
              <a:rPr dirty="0" sz="1300" spc="-225">
                <a:solidFill>
                  <a:srgbClr val="2B2E3C"/>
                </a:solidFill>
                <a:latin typeface="DejaVu Sans Mono"/>
                <a:cs typeface="DejaVu Sans Mono"/>
              </a:rPr>
              <a:t>s.layo</a:t>
            </a:r>
            <a:r>
              <a:rPr dirty="0" sz="1300" spc="8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-180" b="1">
                <a:solidFill>
                  <a:srgbClr val="2B2E3C"/>
                </a:solidFill>
                <a:latin typeface="DejaVu Sans Mono"/>
                <a:cs typeface="DejaVu Sans Mono"/>
              </a:rPr>
              <a:t>f</a:t>
            </a:r>
            <a:r>
              <a:rPr dirty="0" sz="1300" spc="-180">
                <a:solidFill>
                  <a:srgbClr val="2B2E3C"/>
                </a:solidFill>
                <a:latin typeface="DejaVu Sans Mono"/>
                <a:cs typeface="DejaVu Sans Mono"/>
              </a:rPr>
              <a:t>s_staging</a:t>
            </a:r>
            <a:r>
              <a:rPr dirty="0" sz="1300" spc="-11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-110">
                <a:solidFill>
                  <a:srgbClr val="2B2E3C"/>
                </a:solidFill>
                <a:latin typeface="DejaVu Sans Mono"/>
                <a:cs typeface="DejaVu Sans Mono"/>
              </a:rPr>
              <a:t>LIKE</a:t>
            </a:r>
            <a:r>
              <a:rPr dirty="0" sz="1300" spc="-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DejaVu Sans Mono"/>
                <a:cs typeface="DejaVu Sans Mono"/>
              </a:rPr>
              <a:t>w</a:t>
            </a:r>
            <a:r>
              <a:rPr dirty="0" sz="1300" spc="-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-165">
                <a:solidFill>
                  <a:srgbClr val="2B2E3C"/>
                </a:solidFill>
                <a:latin typeface="DejaVu Sans Mono"/>
                <a:cs typeface="DejaVu Sans Mono"/>
              </a:rPr>
              <a:t>orld_layoffs.layoffs;</a:t>
            </a:r>
            <a:endParaRPr sz="1300">
              <a:latin typeface="DejaVu Sans Mono"/>
              <a:cs typeface="DejaVu Sans Mono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DejaVu Sans Mono"/>
              <a:cs typeface="DejaVu Sans Mono"/>
            </a:endParaRPr>
          </a:p>
          <a:p>
            <a:pPr marL="12700">
              <a:lnSpc>
                <a:spcPct val="100000"/>
              </a:lnSpc>
            </a:pPr>
            <a:r>
              <a:rPr dirty="0" sz="1300" spc="-175">
                <a:solidFill>
                  <a:srgbClr val="2B2E3C"/>
                </a:solidFill>
                <a:latin typeface="DejaVu Sans Mono"/>
                <a:cs typeface="DejaVu Sans Mono"/>
              </a:rPr>
              <a:t>IN</a:t>
            </a:r>
            <a:r>
              <a:rPr dirty="0" sz="1300" spc="-12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-30">
                <a:solidFill>
                  <a:srgbClr val="2B2E3C"/>
                </a:solidFill>
                <a:latin typeface="DejaVu Sans Mono"/>
                <a:cs typeface="DejaVu Sans Mono"/>
              </a:rPr>
              <a:t>SERT</a:t>
            </a:r>
            <a:r>
              <a:rPr dirty="0" sz="1300" spc="-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-160">
                <a:solidFill>
                  <a:srgbClr val="2B2E3C"/>
                </a:solidFill>
                <a:latin typeface="DejaVu Sans Mono"/>
                <a:cs typeface="DejaVu Sans Mono"/>
              </a:rPr>
              <a:t>layo</a:t>
            </a:r>
            <a:r>
              <a:rPr dirty="0" sz="1300" spc="6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-75" b="1">
                <a:solidFill>
                  <a:srgbClr val="2B2E3C"/>
                </a:solidFill>
                <a:latin typeface="DejaVu Sans Mono"/>
                <a:cs typeface="DejaVu Sans Mono"/>
              </a:rPr>
              <a:t>f</a:t>
            </a:r>
            <a:r>
              <a:rPr dirty="0" sz="1300" spc="-75">
                <a:solidFill>
                  <a:srgbClr val="2B2E3C"/>
                </a:solidFill>
                <a:latin typeface="DejaVu Sans Mono"/>
                <a:cs typeface="DejaVu Sans Mono"/>
              </a:rPr>
              <a:t>s_staging</a:t>
            </a:r>
            <a:endParaRPr sz="1300">
              <a:latin typeface="DejaVu Sans Mono"/>
              <a:cs typeface="DejaVu Sans Mon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spc="-50">
                <a:solidFill>
                  <a:srgbClr val="2B2E3C"/>
                </a:solidFill>
                <a:latin typeface="DejaVu Sans Mono"/>
                <a:cs typeface="DejaVu Sans Mono"/>
              </a:rPr>
              <a:t>SELECT</a:t>
            </a:r>
            <a:r>
              <a:rPr dirty="0" sz="1300" spc="-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DejaVu Sans Mono"/>
                <a:cs typeface="DejaVu Sans Mono"/>
              </a:rPr>
              <a:t>*</a:t>
            </a:r>
            <a:r>
              <a:rPr dirty="0" sz="1300" spc="-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-30">
                <a:solidFill>
                  <a:srgbClr val="2B2E3C"/>
                </a:solidFill>
                <a:latin typeface="DejaVu Sans Mono"/>
                <a:cs typeface="DejaVu Sans Mono"/>
              </a:rPr>
              <a:t>FRO</a:t>
            </a:r>
            <a:r>
              <a:rPr dirty="0" sz="1300" spc="-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DejaVu Sans Mono"/>
                <a:cs typeface="DejaVu Sans Mono"/>
              </a:rPr>
              <a:t>M</a:t>
            </a:r>
            <a:r>
              <a:rPr dirty="0" sz="1300" spc="4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DejaVu Sans Mono"/>
                <a:cs typeface="DejaVu Sans Mono"/>
              </a:rPr>
              <a:t>w</a:t>
            </a:r>
            <a:r>
              <a:rPr dirty="0" sz="1300" spc="-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-170">
                <a:solidFill>
                  <a:srgbClr val="2B2E3C"/>
                </a:solidFill>
                <a:latin typeface="DejaVu Sans Mono"/>
                <a:cs typeface="DejaVu Sans Mono"/>
              </a:rPr>
              <a:t>orld_layo</a:t>
            </a:r>
            <a:r>
              <a:rPr dirty="0" sz="1300" spc="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-225" b="1">
                <a:solidFill>
                  <a:srgbClr val="2B2E3C"/>
                </a:solidFill>
                <a:latin typeface="DejaVu Sans Mono"/>
                <a:cs typeface="DejaVu Sans Mono"/>
              </a:rPr>
              <a:t>f</a:t>
            </a:r>
            <a:r>
              <a:rPr dirty="0" sz="1300" spc="-225">
                <a:solidFill>
                  <a:srgbClr val="2B2E3C"/>
                </a:solidFill>
                <a:latin typeface="DejaVu Sans Mono"/>
                <a:cs typeface="DejaVu Sans Mono"/>
              </a:rPr>
              <a:t>s.layo</a:t>
            </a:r>
            <a:r>
              <a:rPr dirty="0" sz="1300" spc="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-25" b="1">
                <a:solidFill>
                  <a:srgbClr val="2B2E3C"/>
                </a:solidFill>
                <a:latin typeface="DejaVu Sans Mono"/>
                <a:cs typeface="DejaVu Sans Mono"/>
              </a:rPr>
              <a:t>f</a:t>
            </a:r>
            <a:r>
              <a:rPr dirty="0" sz="1300" spc="-25">
                <a:solidFill>
                  <a:srgbClr val="2B2E3C"/>
                </a:solidFill>
                <a:latin typeface="DejaVu Sans Mono"/>
                <a:cs typeface="DejaVu Sans Mono"/>
              </a:rPr>
              <a:t>s;</a:t>
            </a:r>
            <a:endParaRPr sz="1300">
              <a:latin typeface="DejaVu Sans Mono"/>
              <a:cs typeface="DejaVu Sans Mono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7531201" y="1344955"/>
            <a:ext cx="7056120" cy="6715759"/>
            <a:chOff x="7531201" y="1344955"/>
            <a:chExt cx="7056120" cy="6715759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31201" y="1344955"/>
              <a:ext cx="6508445" cy="6508445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2742200" y="7786463"/>
              <a:ext cx="1844675" cy="274320"/>
            </a:xfrm>
            <a:custGeom>
              <a:avLst/>
              <a:gdLst/>
              <a:ahLst/>
              <a:cxnLst/>
              <a:rect l="l" t="t" r="r" b="b"/>
              <a:pathLst>
                <a:path w="1844675" h="274320">
                  <a:moveTo>
                    <a:pt x="274142" y="0"/>
                  </a:moveTo>
                  <a:lnTo>
                    <a:pt x="0" y="0"/>
                  </a:lnTo>
                  <a:lnTo>
                    <a:pt x="0" y="274142"/>
                  </a:lnTo>
                  <a:lnTo>
                    <a:pt x="274142" y="0"/>
                  </a:lnTo>
                  <a:close/>
                </a:path>
                <a:path w="1844675" h="274320">
                  <a:moveTo>
                    <a:pt x="274142" y="0"/>
                  </a:moveTo>
                  <a:lnTo>
                    <a:pt x="0" y="274142"/>
                  </a:lnTo>
                  <a:lnTo>
                    <a:pt x="274142" y="274142"/>
                  </a:lnTo>
                  <a:lnTo>
                    <a:pt x="274142" y="0"/>
                  </a:lnTo>
                  <a:close/>
                </a:path>
                <a:path w="1844675" h="274320">
                  <a:moveTo>
                    <a:pt x="1570386" y="0"/>
                  </a:moveTo>
                  <a:lnTo>
                    <a:pt x="274142" y="0"/>
                  </a:lnTo>
                  <a:lnTo>
                    <a:pt x="274142" y="274142"/>
                  </a:lnTo>
                  <a:lnTo>
                    <a:pt x="1570386" y="274142"/>
                  </a:lnTo>
                  <a:lnTo>
                    <a:pt x="1570386" y="0"/>
                  </a:lnTo>
                  <a:close/>
                </a:path>
                <a:path w="1844675" h="274320">
                  <a:moveTo>
                    <a:pt x="1844528" y="0"/>
                  </a:moveTo>
                  <a:lnTo>
                    <a:pt x="1570386" y="0"/>
                  </a:lnTo>
                  <a:lnTo>
                    <a:pt x="1570386" y="274142"/>
                  </a:lnTo>
                  <a:lnTo>
                    <a:pt x="1844528" y="0"/>
                  </a:lnTo>
                  <a:close/>
                </a:path>
                <a:path w="1844675" h="274320">
                  <a:moveTo>
                    <a:pt x="1844528" y="0"/>
                  </a:moveTo>
                  <a:lnTo>
                    <a:pt x="1570386" y="274142"/>
                  </a:lnTo>
                  <a:lnTo>
                    <a:pt x="1844528" y="274142"/>
                  </a:lnTo>
                  <a:lnTo>
                    <a:pt x="1844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7518145" y="8108175"/>
            <a:ext cx="596392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B2E3C"/>
                </a:solidFill>
                <a:latin typeface="Arial Unicode MS"/>
                <a:cs typeface="Arial Unicode MS"/>
              </a:rPr>
              <a:t>This</a:t>
            </a:r>
            <a:r>
              <a:rPr dirty="0" sz="1300" spc="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45">
                <a:solidFill>
                  <a:srgbClr val="D25F0F"/>
                </a:solidFill>
                <a:latin typeface="Arial Unicode MS"/>
                <a:cs typeface="Arial Unicode MS"/>
              </a:rPr>
              <a:t>staging</a:t>
            </a:r>
            <a:r>
              <a:rPr dirty="0" sz="1300" spc="65">
                <a:solidFill>
                  <a:srgbClr val="D25F0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D25F0F"/>
                </a:solidFill>
                <a:latin typeface="Arial Unicode MS"/>
                <a:cs typeface="Arial Unicode MS"/>
              </a:rPr>
              <a:t>table</a:t>
            </a:r>
            <a:r>
              <a:rPr dirty="0" sz="1300" spc="65">
                <a:solidFill>
                  <a:srgbClr val="D25F0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Arial Unicode MS"/>
                <a:cs typeface="Arial Unicode MS"/>
              </a:rPr>
              <a:t>acts</a:t>
            </a:r>
            <a:r>
              <a:rPr dirty="0" sz="1300" spc="7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Arial Unicode MS"/>
                <a:cs typeface="Arial Unicode MS"/>
              </a:rPr>
              <a:t>as</a:t>
            </a:r>
            <a:r>
              <a:rPr dirty="0" sz="1300" spc="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Arial Unicode MS"/>
                <a:cs typeface="Arial Unicode MS"/>
              </a:rPr>
              <a:t>a</a:t>
            </a:r>
            <a:r>
              <a:rPr dirty="0" sz="1300" spc="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Arial Unicode MS"/>
                <a:cs typeface="Arial Unicode MS"/>
              </a:rPr>
              <a:t>safe</a:t>
            </a:r>
            <a:r>
              <a:rPr dirty="0" sz="1300" spc="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2B2E3C"/>
                </a:solidFill>
                <a:latin typeface="Arial Unicode MS"/>
                <a:cs typeface="Arial Unicode MS"/>
              </a:rPr>
              <a:t>environment</a:t>
            </a:r>
            <a:r>
              <a:rPr dirty="0" sz="1300" spc="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Arial Unicode MS"/>
                <a:cs typeface="Arial Unicode MS"/>
              </a:rPr>
              <a:t>where</a:t>
            </a:r>
            <a:r>
              <a:rPr dirty="0" sz="1300" spc="7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Arial Unicode MS"/>
                <a:cs typeface="Arial Unicode MS"/>
              </a:rPr>
              <a:t>you</a:t>
            </a:r>
            <a:r>
              <a:rPr dirty="0" sz="1300" spc="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Arial Unicode MS"/>
                <a:cs typeface="Arial Unicode MS"/>
              </a:rPr>
              <a:t>can</a:t>
            </a:r>
            <a:r>
              <a:rPr dirty="0" sz="1300" spc="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75">
                <a:solidFill>
                  <a:srgbClr val="2B2E3C"/>
                </a:solidFill>
                <a:latin typeface="Arial Unicode MS"/>
                <a:cs typeface="Arial Unicode MS"/>
              </a:rPr>
              <a:t>perform</a:t>
            </a:r>
            <a:r>
              <a:rPr dirty="0" sz="1300" spc="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B2E3C"/>
                </a:solidFill>
                <a:latin typeface="Arial Unicode MS"/>
                <a:cs typeface="Arial Unicode MS"/>
              </a:rPr>
              <a:t>all</a:t>
            </a:r>
            <a:r>
              <a:rPr dirty="0" sz="1300" spc="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2B2E3C"/>
                </a:solidFill>
                <a:latin typeface="Arial Unicode MS"/>
                <a:cs typeface="Arial Unicode MS"/>
              </a:rPr>
              <a:t>your</a:t>
            </a:r>
            <a:endParaRPr sz="1300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021" y="312013"/>
            <a:ext cx="4399280" cy="2921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/>
              <a:t>Step</a:t>
            </a:r>
            <a:r>
              <a:rPr dirty="0" sz="1750" spc="90">
                <a:latin typeface="Arial"/>
                <a:cs typeface="Arial"/>
              </a:rPr>
              <a:t> </a:t>
            </a:r>
            <a:r>
              <a:rPr dirty="0" sz="1750"/>
              <a:t>2:</a:t>
            </a:r>
            <a:r>
              <a:rPr dirty="0" sz="1750" spc="95">
                <a:latin typeface="Arial"/>
                <a:cs typeface="Arial"/>
              </a:rPr>
              <a:t> </a:t>
            </a:r>
            <a:r>
              <a:rPr dirty="0" sz="1750" spc="80"/>
              <a:t>Identifying</a:t>
            </a:r>
            <a:r>
              <a:rPr dirty="0" sz="1750" spc="90">
                <a:latin typeface="Arial"/>
                <a:cs typeface="Arial"/>
              </a:rPr>
              <a:t> </a:t>
            </a:r>
            <a:r>
              <a:rPr dirty="0" sz="1750" spc="105"/>
              <a:t>&amp;</a:t>
            </a:r>
            <a:r>
              <a:rPr dirty="0" sz="1750" spc="95">
                <a:latin typeface="Arial"/>
                <a:cs typeface="Arial"/>
              </a:rPr>
              <a:t> </a:t>
            </a:r>
            <a:r>
              <a:rPr dirty="0" sz="1750"/>
              <a:t>Removing</a:t>
            </a:r>
            <a:r>
              <a:rPr dirty="0" sz="1750" spc="90">
                <a:latin typeface="Arial"/>
                <a:cs typeface="Arial"/>
              </a:rPr>
              <a:t> </a:t>
            </a:r>
            <a:r>
              <a:rPr dirty="0" sz="1750" spc="-10"/>
              <a:t>Duplicates</a:t>
            </a:r>
            <a:endParaRPr sz="175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90956" y="1502282"/>
            <a:ext cx="6791325" cy="1985010"/>
          </a:xfrm>
          <a:custGeom>
            <a:avLst/>
            <a:gdLst/>
            <a:ahLst/>
            <a:cxnLst/>
            <a:rect l="l" t="t" r="r" b="b"/>
            <a:pathLst>
              <a:path w="6791325" h="1985010">
                <a:moveTo>
                  <a:pt x="6791045" y="1967395"/>
                </a:moveTo>
                <a:lnTo>
                  <a:pt x="6790677" y="14033"/>
                </a:lnTo>
                <a:lnTo>
                  <a:pt x="6789966" y="11163"/>
                </a:lnTo>
                <a:lnTo>
                  <a:pt x="6788518" y="8636"/>
                </a:lnTo>
                <a:lnTo>
                  <a:pt x="6787083" y="5753"/>
                </a:lnTo>
                <a:lnTo>
                  <a:pt x="6784924" y="3594"/>
                </a:lnTo>
                <a:lnTo>
                  <a:pt x="6782397" y="2159"/>
                </a:lnTo>
                <a:lnTo>
                  <a:pt x="6779527" y="711"/>
                </a:lnTo>
                <a:lnTo>
                  <a:pt x="6776644" y="0"/>
                </a:lnTo>
                <a:lnTo>
                  <a:pt x="6746049" y="0"/>
                </a:lnTo>
                <a:lnTo>
                  <a:pt x="45008" y="0"/>
                </a:lnTo>
                <a:lnTo>
                  <a:pt x="14033" y="0"/>
                </a:lnTo>
                <a:lnTo>
                  <a:pt x="11150" y="711"/>
                </a:lnTo>
                <a:lnTo>
                  <a:pt x="8636" y="2159"/>
                </a:lnTo>
                <a:lnTo>
                  <a:pt x="5753" y="3594"/>
                </a:lnTo>
                <a:lnTo>
                  <a:pt x="3606" y="5753"/>
                </a:lnTo>
                <a:lnTo>
                  <a:pt x="2146" y="8280"/>
                </a:lnTo>
                <a:lnTo>
                  <a:pt x="723" y="11163"/>
                </a:lnTo>
                <a:lnTo>
                  <a:pt x="0" y="14033"/>
                </a:lnTo>
                <a:lnTo>
                  <a:pt x="0" y="1970633"/>
                </a:lnTo>
                <a:lnTo>
                  <a:pt x="723" y="1973516"/>
                </a:lnTo>
                <a:lnTo>
                  <a:pt x="2146" y="1976031"/>
                </a:lnTo>
                <a:lnTo>
                  <a:pt x="3606" y="1978914"/>
                </a:lnTo>
                <a:lnTo>
                  <a:pt x="5753" y="1981073"/>
                </a:lnTo>
                <a:lnTo>
                  <a:pt x="8267" y="1982520"/>
                </a:lnTo>
                <a:lnTo>
                  <a:pt x="11150" y="1983955"/>
                </a:lnTo>
                <a:lnTo>
                  <a:pt x="14033" y="1984679"/>
                </a:lnTo>
                <a:lnTo>
                  <a:pt x="44996" y="1984679"/>
                </a:lnTo>
                <a:lnTo>
                  <a:pt x="3416439" y="1984502"/>
                </a:lnTo>
                <a:lnTo>
                  <a:pt x="6776999" y="1984311"/>
                </a:lnTo>
                <a:lnTo>
                  <a:pt x="6779882" y="1983600"/>
                </a:lnTo>
                <a:lnTo>
                  <a:pt x="6782397" y="1982152"/>
                </a:lnTo>
                <a:lnTo>
                  <a:pt x="6785280" y="1980717"/>
                </a:lnTo>
                <a:lnTo>
                  <a:pt x="6787439" y="1978558"/>
                </a:lnTo>
                <a:lnTo>
                  <a:pt x="6788886" y="1976031"/>
                </a:lnTo>
                <a:lnTo>
                  <a:pt x="6790322" y="1973160"/>
                </a:lnTo>
                <a:lnTo>
                  <a:pt x="6790944" y="1970633"/>
                </a:lnTo>
                <a:lnTo>
                  <a:pt x="6791045" y="1967395"/>
                </a:lnTo>
                <a:close/>
              </a:path>
            </a:pathLst>
          </a:custGeom>
          <a:solidFill>
            <a:srgbClr val="F2EB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384021" y="902423"/>
            <a:ext cx="5524500" cy="1863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2B2E3C"/>
                </a:solidFill>
                <a:latin typeface="Arial Unicode MS"/>
                <a:cs typeface="Arial Unicode MS"/>
              </a:rPr>
              <a:t>Duplicate</a:t>
            </a:r>
            <a:r>
              <a:rPr dirty="0" sz="850" spc="1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Arial Unicode MS"/>
                <a:cs typeface="Arial Unicode MS"/>
              </a:rPr>
              <a:t>records</a:t>
            </a:r>
            <a:r>
              <a:rPr dirty="0" sz="850" spc="1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Arial Unicode MS"/>
                <a:cs typeface="Arial Unicode MS"/>
              </a:rPr>
              <a:t>can</a:t>
            </a:r>
            <a:r>
              <a:rPr dirty="0" sz="850" spc="1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Arial Unicode MS"/>
                <a:cs typeface="Arial Unicode MS"/>
              </a:rPr>
              <a:t>significantly</a:t>
            </a:r>
            <a:r>
              <a:rPr dirty="0" sz="850" spc="17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Arial Unicode MS"/>
                <a:cs typeface="Arial Unicode MS"/>
              </a:rPr>
              <a:t>impact</a:t>
            </a:r>
            <a:r>
              <a:rPr dirty="0" sz="850" spc="1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Arial Unicode MS"/>
                <a:cs typeface="Arial Unicode MS"/>
              </a:rPr>
              <a:t>your</a:t>
            </a:r>
            <a:r>
              <a:rPr dirty="0" sz="850" spc="1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Arial Unicode MS"/>
                <a:cs typeface="Arial Unicode MS"/>
              </a:rPr>
              <a:t>analysis,</a:t>
            </a:r>
            <a:r>
              <a:rPr dirty="0" sz="850" spc="1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Arial Unicode MS"/>
                <a:cs typeface="Arial Unicode MS"/>
              </a:rPr>
              <a:t>leading</a:t>
            </a:r>
            <a:r>
              <a:rPr dirty="0" sz="850" spc="1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50">
                <a:solidFill>
                  <a:srgbClr val="2B2E3C"/>
                </a:solidFill>
                <a:latin typeface="Arial Unicode MS"/>
                <a:cs typeface="Arial Unicode MS"/>
              </a:rPr>
              <a:t>to</a:t>
            </a:r>
            <a:r>
              <a:rPr dirty="0" sz="850" spc="1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Arial Unicode MS"/>
                <a:cs typeface="Arial Unicode MS"/>
              </a:rPr>
              <a:t>inflated</a:t>
            </a:r>
            <a:r>
              <a:rPr dirty="0" sz="850" spc="16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Arial Unicode MS"/>
                <a:cs typeface="Arial Unicode MS"/>
              </a:rPr>
              <a:t>counts</a:t>
            </a:r>
            <a:r>
              <a:rPr dirty="0" sz="850" spc="1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50">
                <a:solidFill>
                  <a:srgbClr val="2B2E3C"/>
                </a:solidFill>
                <a:latin typeface="Arial Unicode MS"/>
                <a:cs typeface="Arial Unicode MS"/>
              </a:rPr>
              <a:t>or</a:t>
            </a:r>
            <a:r>
              <a:rPr dirty="0" sz="850" spc="1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Arial Unicode MS"/>
                <a:cs typeface="Arial Unicode MS"/>
              </a:rPr>
              <a:t>incorrect</a:t>
            </a:r>
            <a:r>
              <a:rPr dirty="0" sz="850" spc="1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2B2E3C"/>
                </a:solidFill>
                <a:latin typeface="Arial Unicode MS"/>
                <a:cs typeface="Arial Unicode MS"/>
              </a:rPr>
              <a:t>aggregations.</a:t>
            </a:r>
            <a:endParaRPr sz="85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5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2C3F41"/>
                </a:solidFill>
                <a:latin typeface="Arial Unicode MS"/>
                <a:cs typeface="Arial Unicode MS"/>
              </a:rPr>
              <a:t>Detecting</a:t>
            </a:r>
            <a:r>
              <a:rPr dirty="0" sz="1300" spc="370">
                <a:solidFill>
                  <a:srgbClr val="2C3F41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2C3F41"/>
                </a:solidFill>
                <a:latin typeface="Arial Unicode MS"/>
                <a:cs typeface="Arial Unicode MS"/>
              </a:rPr>
              <a:t>Duplicates</a:t>
            </a:r>
            <a:endParaRPr sz="13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>
              <a:latin typeface="Arial Unicode MS"/>
              <a:cs typeface="Arial Unicode MS"/>
            </a:endParaRPr>
          </a:p>
          <a:p>
            <a:pPr marL="120650">
              <a:lnSpc>
                <a:spcPct val="100000"/>
              </a:lnSpc>
            </a:pPr>
            <a:r>
              <a:rPr dirty="0" sz="850" spc="-30">
                <a:solidFill>
                  <a:srgbClr val="2B2E3C"/>
                </a:solidFill>
                <a:latin typeface="DejaVu Sans Mono"/>
                <a:cs typeface="DejaVu Sans Mono"/>
              </a:rPr>
              <a:t>SELECT</a:t>
            </a:r>
            <a:r>
              <a:rPr dirty="0" sz="850" spc="-2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2B2E3C"/>
                </a:solidFill>
                <a:latin typeface="DejaVu Sans Mono"/>
                <a:cs typeface="DejaVu Sans Mono"/>
              </a:rPr>
              <a:t>*,</a:t>
            </a:r>
            <a:endParaRPr sz="850">
              <a:latin typeface="DejaVu Sans Mono"/>
              <a:cs typeface="DejaVu Sans Mono"/>
            </a:endParaRPr>
          </a:p>
          <a:p>
            <a:pPr marL="120650">
              <a:lnSpc>
                <a:spcPct val="100000"/>
              </a:lnSpc>
              <a:spcBef>
                <a:spcPts val="5"/>
              </a:spcBef>
            </a:pPr>
            <a:r>
              <a:rPr dirty="0" sz="850">
                <a:solidFill>
                  <a:srgbClr val="2B2E3C"/>
                </a:solidFill>
                <a:latin typeface="DejaVu Sans Mono"/>
                <a:cs typeface="DejaVu Sans Mono"/>
              </a:rPr>
              <a:t>RO</a:t>
            </a:r>
            <a:r>
              <a:rPr dirty="0" sz="850" spc="-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DejaVu Sans Mono"/>
                <a:cs typeface="DejaVu Sans Mono"/>
              </a:rPr>
              <a:t>W</a:t>
            </a:r>
            <a:r>
              <a:rPr dirty="0" sz="850" spc="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-75">
                <a:solidFill>
                  <a:srgbClr val="2B2E3C"/>
                </a:solidFill>
                <a:latin typeface="DejaVu Sans Mono"/>
                <a:cs typeface="DejaVu Sans Mono"/>
              </a:rPr>
              <a:t>_N</a:t>
            </a:r>
            <a:r>
              <a:rPr dirty="0" sz="850" spc="-7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DejaVu Sans Mono"/>
                <a:cs typeface="DejaVu Sans Mono"/>
              </a:rPr>
              <a:t>U</a:t>
            </a:r>
            <a:r>
              <a:rPr dirty="0" sz="850" spc="-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DejaVu Sans Mono"/>
                <a:cs typeface="DejaVu Sans Mono"/>
              </a:rPr>
              <a:t>M</a:t>
            </a:r>
            <a:r>
              <a:rPr dirty="0" sz="8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-55">
                <a:solidFill>
                  <a:srgbClr val="2B2E3C"/>
                </a:solidFill>
                <a:latin typeface="DejaVu Sans Mono"/>
                <a:cs typeface="DejaVu Sans Mono"/>
              </a:rPr>
              <a:t>BER()O</a:t>
            </a:r>
            <a:r>
              <a:rPr dirty="0" sz="850" spc="-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DejaVu Sans Mono"/>
                <a:cs typeface="DejaVu Sans Mono"/>
              </a:rPr>
              <a:t>VER</a:t>
            </a:r>
            <a:r>
              <a:rPr dirty="0" sz="850" spc="3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-50">
                <a:solidFill>
                  <a:srgbClr val="2B2E3C"/>
                </a:solidFill>
                <a:latin typeface="DejaVu Sans Mono"/>
                <a:cs typeface="DejaVu Sans Mono"/>
              </a:rPr>
              <a:t>(</a:t>
            </a:r>
            <a:endParaRPr sz="850">
              <a:latin typeface="DejaVu Sans Mono"/>
              <a:cs typeface="DejaVu Sans Mono"/>
            </a:endParaRPr>
          </a:p>
          <a:p>
            <a:pPr marL="120650" marR="3660775">
              <a:lnSpc>
                <a:spcPct val="100000"/>
              </a:lnSpc>
            </a:pPr>
            <a:r>
              <a:rPr dirty="0" sz="850" spc="-75">
                <a:solidFill>
                  <a:srgbClr val="2B2E3C"/>
                </a:solidFill>
                <a:latin typeface="DejaVu Sans Mono"/>
                <a:cs typeface="DejaVu Sans Mono"/>
              </a:rPr>
              <a:t>PARTITIO</a:t>
            </a:r>
            <a:r>
              <a:rPr dirty="0" sz="850" spc="-6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DejaVu Sans Mono"/>
                <a:cs typeface="DejaVu Sans Mono"/>
              </a:rPr>
              <a:t>N</a:t>
            </a:r>
            <a:r>
              <a:rPr dirty="0" sz="850" spc="1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DejaVu Sans Mono"/>
                <a:cs typeface="DejaVu Sans Mono"/>
              </a:rPr>
              <a:t>BY</a:t>
            </a:r>
            <a:r>
              <a:rPr dirty="0" sz="850" spc="-2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DejaVu Sans Mono"/>
                <a:cs typeface="DejaVu Sans Mono"/>
              </a:rPr>
              <a:t>com</a:t>
            </a:r>
            <a:r>
              <a:rPr dirty="0" sz="850" spc="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-95">
                <a:solidFill>
                  <a:srgbClr val="2B2E3C"/>
                </a:solidFill>
                <a:latin typeface="DejaVu Sans Mono"/>
                <a:cs typeface="DejaVu Sans Mono"/>
              </a:rPr>
              <a:t>pany,location,</a:t>
            </a:r>
            <a:r>
              <a:rPr dirty="0" sz="850" spc="5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-125">
                <a:solidFill>
                  <a:srgbClr val="2B2E3C"/>
                </a:solidFill>
                <a:latin typeface="DejaVu Sans Mono"/>
                <a:cs typeface="DejaVu Sans Mono"/>
              </a:rPr>
              <a:t>industry,total_laid_o</a:t>
            </a:r>
            <a:r>
              <a:rPr dirty="0" sz="850" spc="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-25" b="1">
                <a:solidFill>
                  <a:srgbClr val="2B2E3C"/>
                </a:solidFill>
                <a:latin typeface="DejaVu Sans Mono"/>
                <a:cs typeface="DejaVu Sans Mono"/>
              </a:rPr>
              <a:t>f</a:t>
            </a:r>
            <a:r>
              <a:rPr dirty="0" sz="850" spc="-25">
                <a:solidFill>
                  <a:srgbClr val="2B2E3C"/>
                </a:solidFill>
                <a:latin typeface="DejaVu Sans Mono"/>
                <a:cs typeface="DejaVu Sans Mono"/>
              </a:rPr>
              <a:t>,</a:t>
            </a:r>
            <a:r>
              <a:rPr dirty="0" sz="850" spc="-2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-90">
                <a:solidFill>
                  <a:srgbClr val="2B2E3C"/>
                </a:solidFill>
                <a:latin typeface="DejaVu Sans Mono"/>
                <a:cs typeface="DejaVu Sans Mono"/>
              </a:rPr>
              <a:t>percentage_laid_o</a:t>
            </a:r>
            <a:r>
              <a:rPr dirty="0" sz="850" spc="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2B2E3C"/>
                </a:solidFill>
                <a:latin typeface="DejaVu Sans Mono"/>
                <a:cs typeface="DejaVu Sans Mono"/>
              </a:rPr>
              <a:t>f</a:t>
            </a:r>
            <a:r>
              <a:rPr dirty="0" sz="850" spc="-10">
                <a:solidFill>
                  <a:srgbClr val="2B2E3C"/>
                </a:solidFill>
                <a:latin typeface="DejaVu Sans Mono"/>
                <a:cs typeface="DejaVu Sans Mono"/>
              </a:rPr>
              <a:t>,date,</a:t>
            </a:r>
            <a:r>
              <a:rPr dirty="0" sz="850" spc="-1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2B2E3C"/>
                </a:solidFill>
                <a:latin typeface="DejaVu Sans Mono"/>
                <a:cs typeface="DejaVu Sans Mono"/>
              </a:rPr>
              <a:t>stage,country,</a:t>
            </a:r>
            <a:endParaRPr sz="850">
              <a:latin typeface="DejaVu Sans Mono"/>
              <a:cs typeface="DejaVu Sans Mono"/>
            </a:endParaRPr>
          </a:p>
          <a:p>
            <a:pPr marL="120650">
              <a:lnSpc>
                <a:spcPct val="100000"/>
              </a:lnSpc>
            </a:pPr>
            <a:r>
              <a:rPr dirty="0" sz="850" spc="-85">
                <a:solidFill>
                  <a:srgbClr val="2B2E3C"/>
                </a:solidFill>
                <a:latin typeface="DejaVu Sans Mono"/>
                <a:cs typeface="DejaVu Sans Mono"/>
              </a:rPr>
              <a:t>funds_raised_m</a:t>
            </a:r>
            <a:r>
              <a:rPr dirty="0" sz="850" spc="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2B2E3C"/>
                </a:solidFill>
                <a:latin typeface="DejaVu Sans Mono"/>
                <a:cs typeface="DejaVu Sans Mono"/>
              </a:rPr>
              <a:t>i</a:t>
            </a:r>
            <a:r>
              <a:rPr dirty="0" sz="850" spc="-10" b="1">
                <a:solidFill>
                  <a:srgbClr val="2B2E3C"/>
                </a:solidFill>
                <a:latin typeface="DejaVu Sans Mono"/>
                <a:cs typeface="DejaVu Sans Mono"/>
              </a:rPr>
              <a:t>l</a:t>
            </a:r>
            <a:r>
              <a:rPr dirty="0" sz="850" spc="-10">
                <a:solidFill>
                  <a:srgbClr val="2B2E3C"/>
                </a:solidFill>
                <a:latin typeface="DejaVu Sans Mono"/>
                <a:cs typeface="DejaVu Sans Mono"/>
              </a:rPr>
              <a:t>ions</a:t>
            </a:r>
            <a:endParaRPr sz="850">
              <a:latin typeface="DejaVu Sans Mono"/>
              <a:cs typeface="DejaVu Sans Mono"/>
            </a:endParaRPr>
          </a:p>
          <a:p>
            <a:pPr marL="120650">
              <a:lnSpc>
                <a:spcPct val="100000"/>
              </a:lnSpc>
            </a:pPr>
            <a:r>
              <a:rPr dirty="0" sz="850">
                <a:solidFill>
                  <a:srgbClr val="2B2E3C"/>
                </a:solidFill>
                <a:latin typeface="DejaVu Sans Mono"/>
                <a:cs typeface="DejaVu Sans Mono"/>
              </a:rPr>
              <a:t>)AS</a:t>
            </a:r>
            <a:r>
              <a:rPr dirty="0" sz="850" spc="-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-65">
                <a:solidFill>
                  <a:srgbClr val="2B2E3C"/>
                </a:solidFill>
                <a:latin typeface="DejaVu Sans Mono"/>
                <a:cs typeface="DejaVu Sans Mono"/>
              </a:rPr>
              <a:t>row</a:t>
            </a:r>
            <a:r>
              <a:rPr dirty="0" sz="850" spc="-6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2B2E3C"/>
                </a:solidFill>
                <a:latin typeface="DejaVu Sans Mono"/>
                <a:cs typeface="DejaVu Sans Mono"/>
              </a:rPr>
              <a:t>_num</a:t>
            </a:r>
            <a:endParaRPr sz="850">
              <a:latin typeface="DejaVu Sans Mono"/>
              <a:cs typeface="DejaVu Sans Mono"/>
            </a:endParaRPr>
          </a:p>
          <a:p>
            <a:pPr marL="120650">
              <a:lnSpc>
                <a:spcPct val="100000"/>
              </a:lnSpc>
            </a:pPr>
            <a:r>
              <a:rPr dirty="0" sz="850" spc="-20">
                <a:solidFill>
                  <a:srgbClr val="2B2E3C"/>
                </a:solidFill>
                <a:latin typeface="DejaVu Sans Mono"/>
                <a:cs typeface="DejaVu Sans Mono"/>
              </a:rPr>
              <a:t>FRO</a:t>
            </a:r>
            <a:r>
              <a:rPr dirty="0" sz="850" spc="-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DejaVu Sans Mono"/>
                <a:cs typeface="DejaVu Sans Mono"/>
              </a:rPr>
              <a:t>M</a:t>
            </a:r>
            <a:r>
              <a:rPr dirty="0" sz="850" spc="3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2B2E3C"/>
                </a:solidFill>
                <a:latin typeface="DejaVu Sans Mono"/>
                <a:cs typeface="DejaVu Sans Mono"/>
              </a:rPr>
              <a:t>w</a:t>
            </a:r>
            <a:r>
              <a:rPr dirty="0" sz="850" spc="-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-120">
                <a:solidFill>
                  <a:srgbClr val="2B2E3C"/>
                </a:solidFill>
                <a:latin typeface="DejaVu Sans Mono"/>
                <a:cs typeface="DejaVu Sans Mono"/>
              </a:rPr>
              <a:t>orld_layo</a:t>
            </a:r>
            <a:r>
              <a:rPr dirty="0" sz="850" spc="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-150" b="1">
                <a:solidFill>
                  <a:srgbClr val="2B2E3C"/>
                </a:solidFill>
                <a:latin typeface="DejaVu Sans Mono"/>
                <a:cs typeface="DejaVu Sans Mono"/>
              </a:rPr>
              <a:t>f</a:t>
            </a:r>
            <a:r>
              <a:rPr dirty="0" sz="850" spc="-150">
                <a:solidFill>
                  <a:srgbClr val="2B2E3C"/>
                </a:solidFill>
                <a:latin typeface="DejaVu Sans Mono"/>
                <a:cs typeface="DejaVu Sans Mono"/>
              </a:rPr>
              <a:t>s.layo</a:t>
            </a:r>
            <a:r>
              <a:rPr dirty="0" sz="850" spc="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2B2E3C"/>
                </a:solidFill>
                <a:latin typeface="DejaVu Sans Mono"/>
                <a:cs typeface="DejaVu Sans Mono"/>
              </a:rPr>
              <a:t>f</a:t>
            </a:r>
            <a:r>
              <a:rPr dirty="0" sz="850" spc="-10">
                <a:solidFill>
                  <a:srgbClr val="2B2E3C"/>
                </a:solidFill>
                <a:latin typeface="DejaVu Sans Mono"/>
                <a:cs typeface="DejaVu Sans Mono"/>
              </a:rPr>
              <a:t>s_staging;</a:t>
            </a:r>
            <a:endParaRPr sz="850">
              <a:latin typeface="DejaVu Sans Mono"/>
              <a:cs typeface="DejaVu Sans Mon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0995" y="892441"/>
            <a:ext cx="6779514" cy="677951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448295" y="8093788"/>
            <a:ext cx="165481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2C3F41"/>
                </a:solidFill>
                <a:latin typeface="Arial Unicode MS"/>
                <a:cs typeface="Arial Unicode MS"/>
              </a:rPr>
              <a:t>Removing</a:t>
            </a:r>
            <a:r>
              <a:rPr dirty="0" sz="1300" spc="204">
                <a:solidFill>
                  <a:srgbClr val="2C3F41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2C3F41"/>
                </a:solidFill>
                <a:latin typeface="Arial Unicode MS"/>
                <a:cs typeface="Arial Unicode MS"/>
              </a:rPr>
              <a:t>Duplicates</a:t>
            </a:r>
            <a:endParaRPr sz="1300">
              <a:latin typeface="Arial Unicode MS"/>
              <a:cs typeface="Arial Unicode MS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2798679" y="7801711"/>
            <a:ext cx="1799589" cy="342265"/>
          </a:xfrm>
          <a:custGeom>
            <a:avLst/>
            <a:gdLst/>
            <a:ahLst/>
            <a:cxnLst/>
            <a:rect l="l" t="t" r="r" b="b"/>
            <a:pathLst>
              <a:path w="1799590" h="342265">
                <a:moveTo>
                  <a:pt x="1799386" y="0"/>
                </a:moveTo>
                <a:lnTo>
                  <a:pt x="1525244" y="0"/>
                </a:lnTo>
                <a:lnTo>
                  <a:pt x="274142" y="0"/>
                </a:lnTo>
                <a:lnTo>
                  <a:pt x="0" y="0"/>
                </a:lnTo>
                <a:lnTo>
                  <a:pt x="0" y="274142"/>
                </a:lnTo>
                <a:lnTo>
                  <a:pt x="45199" y="274142"/>
                </a:lnTo>
                <a:lnTo>
                  <a:pt x="45199" y="341922"/>
                </a:lnTo>
                <a:lnTo>
                  <a:pt x="319341" y="341922"/>
                </a:lnTo>
                <a:lnTo>
                  <a:pt x="1446136" y="341922"/>
                </a:lnTo>
                <a:lnTo>
                  <a:pt x="1720278" y="341922"/>
                </a:lnTo>
                <a:lnTo>
                  <a:pt x="1720278" y="274142"/>
                </a:lnTo>
                <a:lnTo>
                  <a:pt x="1799386" y="274142"/>
                </a:lnTo>
                <a:lnTo>
                  <a:pt x="17993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019" cy="18946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7574" y="2336304"/>
            <a:ext cx="4963795" cy="3835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50"/>
              <a:t>Step</a:t>
            </a:r>
            <a:r>
              <a:rPr dirty="0" sz="2350" spc="75">
                <a:latin typeface="Arial"/>
                <a:cs typeface="Arial"/>
              </a:rPr>
              <a:t> </a:t>
            </a:r>
            <a:r>
              <a:rPr dirty="0" sz="2350"/>
              <a:t>3:</a:t>
            </a:r>
            <a:r>
              <a:rPr dirty="0" sz="2350" spc="80">
                <a:latin typeface="Arial"/>
                <a:cs typeface="Arial"/>
              </a:rPr>
              <a:t> </a:t>
            </a:r>
            <a:r>
              <a:rPr dirty="0" sz="2350" spc="65"/>
              <a:t>Standardizing</a:t>
            </a:r>
            <a:r>
              <a:rPr dirty="0" sz="2350" spc="85">
                <a:latin typeface="Arial"/>
                <a:cs typeface="Arial"/>
              </a:rPr>
              <a:t> </a:t>
            </a:r>
            <a:r>
              <a:rPr dirty="0" sz="2350"/>
              <a:t>Data</a:t>
            </a:r>
            <a:r>
              <a:rPr dirty="0" sz="2350" spc="85">
                <a:latin typeface="Arial"/>
                <a:cs typeface="Arial"/>
              </a:rPr>
              <a:t> </a:t>
            </a:r>
            <a:r>
              <a:rPr dirty="0" sz="2350" spc="-10"/>
              <a:t>Formats</a:t>
            </a:r>
            <a:endParaRPr sz="23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55431" y="2991497"/>
            <a:ext cx="114046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Standardizing</a:t>
            </a:r>
            <a:r>
              <a:rPr dirty="0" sz="1150" spc="1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data</a:t>
            </a:r>
            <a:r>
              <a:rPr dirty="0" sz="11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ensures</a:t>
            </a:r>
            <a:r>
              <a:rPr dirty="0" sz="11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60">
                <a:solidFill>
                  <a:srgbClr val="2B2E3C"/>
                </a:solidFill>
                <a:latin typeface="Arial Unicode MS"/>
                <a:cs typeface="Arial Unicode MS"/>
              </a:rPr>
              <a:t>that</a:t>
            </a:r>
            <a:r>
              <a:rPr dirty="0" sz="11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all</a:t>
            </a:r>
            <a:r>
              <a:rPr dirty="0" sz="1150" spc="1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entries</a:t>
            </a:r>
            <a:r>
              <a:rPr dirty="0" sz="11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70">
                <a:solidFill>
                  <a:srgbClr val="2B2E3C"/>
                </a:solidFill>
                <a:latin typeface="Arial Unicode MS"/>
                <a:cs typeface="Arial Unicode MS"/>
              </a:rPr>
              <a:t>for</a:t>
            </a:r>
            <a:r>
              <a:rPr dirty="0" sz="11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a</a:t>
            </a:r>
            <a:r>
              <a:rPr dirty="0" sz="11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given</a:t>
            </a:r>
            <a:r>
              <a:rPr dirty="0" sz="1150" spc="1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60">
                <a:solidFill>
                  <a:srgbClr val="2B2E3C"/>
                </a:solidFill>
                <a:latin typeface="Arial Unicode MS"/>
                <a:cs typeface="Arial Unicode MS"/>
              </a:rPr>
              <a:t>attribute</a:t>
            </a:r>
            <a:r>
              <a:rPr dirty="0" sz="11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are</a:t>
            </a:r>
            <a:r>
              <a:rPr dirty="0" sz="11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60">
                <a:solidFill>
                  <a:srgbClr val="2B2E3C"/>
                </a:solidFill>
                <a:latin typeface="Arial Unicode MS"/>
                <a:cs typeface="Arial Unicode MS"/>
              </a:rPr>
              <a:t>uniform.</a:t>
            </a:r>
            <a:r>
              <a:rPr dirty="0" sz="11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This</a:t>
            </a:r>
            <a:r>
              <a:rPr dirty="0" sz="11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includes</a:t>
            </a:r>
            <a:r>
              <a:rPr dirty="0" sz="1150" spc="1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correcting</a:t>
            </a:r>
            <a:r>
              <a:rPr dirty="0" sz="11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typos,</a:t>
            </a:r>
            <a:r>
              <a:rPr dirty="0" sz="11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50">
                <a:solidFill>
                  <a:srgbClr val="2B2E3C"/>
                </a:solidFill>
                <a:latin typeface="Arial Unicode MS"/>
                <a:cs typeface="Arial Unicode MS"/>
              </a:rPr>
              <a:t>unifying</a:t>
            </a:r>
            <a:r>
              <a:rPr dirty="0" sz="11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categorical</a:t>
            </a:r>
            <a:r>
              <a:rPr dirty="0" sz="1150" spc="1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values,</a:t>
            </a:r>
            <a:r>
              <a:rPr dirty="0" sz="11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and</a:t>
            </a:r>
            <a:r>
              <a:rPr dirty="0" sz="11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65">
                <a:solidFill>
                  <a:srgbClr val="2B2E3C"/>
                </a:solidFill>
                <a:latin typeface="Arial Unicode MS"/>
                <a:cs typeface="Arial Unicode MS"/>
              </a:rPr>
              <a:t>formatting</a:t>
            </a:r>
            <a:r>
              <a:rPr dirty="0" sz="11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dates</a:t>
            </a:r>
            <a:r>
              <a:rPr dirty="0" sz="1150" spc="1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2B2E3C"/>
                </a:solidFill>
                <a:latin typeface="Arial Unicode MS"/>
                <a:cs typeface="Arial Unicode MS"/>
              </a:rPr>
              <a:t>correctly.</a:t>
            </a:r>
            <a:endParaRPr sz="1150">
              <a:latin typeface="Arial Unicode MS"/>
              <a:cs typeface="Arial Unicode M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15520" y="3343986"/>
            <a:ext cx="4445000" cy="4456430"/>
            <a:chOff x="515520" y="3343986"/>
            <a:chExt cx="4445000" cy="4456430"/>
          </a:xfrm>
        </p:grpSpPr>
        <p:sp>
          <p:nvSpPr>
            <p:cNvPr id="6" name="object 6" descr=""/>
            <p:cNvSpPr/>
            <p:nvPr/>
          </p:nvSpPr>
          <p:spPr>
            <a:xfrm>
              <a:off x="530641" y="3351606"/>
              <a:ext cx="4422140" cy="4441190"/>
            </a:xfrm>
            <a:custGeom>
              <a:avLst/>
              <a:gdLst/>
              <a:ahLst/>
              <a:cxnLst/>
              <a:rect l="l" t="t" r="r" b="b"/>
              <a:pathLst>
                <a:path w="4422140" h="4441190">
                  <a:moveTo>
                    <a:pt x="4348444" y="0"/>
                  </a:moveTo>
                  <a:lnTo>
                    <a:pt x="73079" y="0"/>
                  </a:lnTo>
                  <a:lnTo>
                    <a:pt x="63451" y="607"/>
                  </a:lnTo>
                  <a:lnTo>
                    <a:pt x="21419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4367870"/>
                  </a:lnTo>
                  <a:lnTo>
                    <a:pt x="15092" y="4412251"/>
                  </a:lnTo>
                  <a:lnTo>
                    <a:pt x="54044" y="4438520"/>
                  </a:lnTo>
                  <a:lnTo>
                    <a:pt x="73079" y="4440950"/>
                  </a:lnTo>
                  <a:lnTo>
                    <a:pt x="4348800" y="4440593"/>
                  </a:lnTo>
                  <a:lnTo>
                    <a:pt x="4393177" y="4425494"/>
                  </a:lnTo>
                  <a:lnTo>
                    <a:pt x="4419447" y="4386548"/>
                  </a:lnTo>
                  <a:lnTo>
                    <a:pt x="4421875" y="4367518"/>
                  </a:lnTo>
                  <a:lnTo>
                    <a:pt x="4421520" y="73075"/>
                  </a:lnTo>
                  <a:lnTo>
                    <a:pt x="4406421" y="28698"/>
                  </a:lnTo>
                  <a:lnTo>
                    <a:pt x="4367473" y="2428"/>
                  </a:lnTo>
                  <a:lnTo>
                    <a:pt x="4348444" y="0"/>
                  </a:lnTo>
                  <a:close/>
                </a:path>
              </a:pathLst>
            </a:custGeom>
            <a:solidFill>
              <a:srgbClr val="FFF8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30641" y="3351606"/>
              <a:ext cx="4422140" cy="4441190"/>
            </a:xfrm>
            <a:custGeom>
              <a:avLst/>
              <a:gdLst/>
              <a:ahLst/>
              <a:cxnLst/>
              <a:rect l="l" t="t" r="r" b="b"/>
              <a:pathLst>
                <a:path w="4422140" h="4441190">
                  <a:moveTo>
                    <a:pt x="0" y="73075"/>
                  </a:moveTo>
                  <a:lnTo>
                    <a:pt x="607" y="63436"/>
                  </a:lnTo>
                  <a:lnTo>
                    <a:pt x="2429" y="54036"/>
                  </a:lnTo>
                  <a:lnTo>
                    <a:pt x="28698" y="15091"/>
                  </a:lnTo>
                  <a:lnTo>
                    <a:pt x="73079" y="0"/>
                  </a:lnTo>
                  <a:lnTo>
                    <a:pt x="4348444" y="0"/>
                  </a:lnTo>
                  <a:lnTo>
                    <a:pt x="4392964" y="15096"/>
                  </a:lnTo>
                  <a:lnTo>
                    <a:pt x="4419091" y="54081"/>
                  </a:lnTo>
                  <a:lnTo>
                    <a:pt x="4421520" y="73075"/>
                  </a:lnTo>
                  <a:lnTo>
                    <a:pt x="4421875" y="4367518"/>
                  </a:lnTo>
                  <a:lnTo>
                    <a:pt x="4421268" y="4377150"/>
                  </a:lnTo>
                  <a:lnTo>
                    <a:pt x="4419447" y="4386547"/>
                  </a:lnTo>
                  <a:lnTo>
                    <a:pt x="4393177" y="4425494"/>
                  </a:lnTo>
                  <a:lnTo>
                    <a:pt x="4348800" y="4440593"/>
                  </a:lnTo>
                  <a:lnTo>
                    <a:pt x="73079" y="4440950"/>
                  </a:lnTo>
                  <a:lnTo>
                    <a:pt x="28550" y="4425851"/>
                  </a:lnTo>
                  <a:lnTo>
                    <a:pt x="2429" y="4386867"/>
                  </a:lnTo>
                  <a:lnTo>
                    <a:pt x="0" y="4367870"/>
                  </a:lnTo>
                  <a:lnTo>
                    <a:pt x="0" y="73075"/>
                  </a:lnTo>
                  <a:close/>
                </a:path>
              </a:pathLst>
            </a:custGeom>
            <a:ln w="15119">
              <a:solidFill>
                <a:srgbClr val="E2C8B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15520" y="3351237"/>
              <a:ext cx="60960" cy="4441825"/>
            </a:xfrm>
            <a:custGeom>
              <a:avLst/>
              <a:gdLst/>
              <a:ahLst/>
              <a:cxnLst/>
              <a:rect l="l" t="t" r="r" b="b"/>
              <a:pathLst>
                <a:path w="60959" h="4441825">
                  <a:moveTo>
                    <a:pt x="30604" y="0"/>
                  </a:moveTo>
                  <a:lnTo>
                    <a:pt x="25196" y="0"/>
                  </a:lnTo>
                  <a:lnTo>
                    <a:pt x="19799" y="1447"/>
                  </a:lnTo>
                  <a:lnTo>
                    <a:pt x="15120" y="4318"/>
                  </a:lnTo>
                  <a:lnTo>
                    <a:pt x="10438" y="6845"/>
                  </a:lnTo>
                  <a:lnTo>
                    <a:pt x="6841" y="10807"/>
                  </a:lnTo>
                  <a:lnTo>
                    <a:pt x="3958" y="15481"/>
                  </a:lnTo>
                  <a:lnTo>
                    <a:pt x="1443" y="20167"/>
                  </a:lnTo>
                  <a:lnTo>
                    <a:pt x="0" y="25196"/>
                  </a:lnTo>
                  <a:lnTo>
                    <a:pt x="0" y="4416121"/>
                  </a:lnTo>
                  <a:lnTo>
                    <a:pt x="1076" y="4421519"/>
                  </a:lnTo>
                  <a:lnTo>
                    <a:pt x="3958" y="4426202"/>
                  </a:lnTo>
                  <a:lnTo>
                    <a:pt x="6474" y="4430875"/>
                  </a:lnTo>
                  <a:lnTo>
                    <a:pt x="10438" y="4434481"/>
                  </a:lnTo>
                  <a:lnTo>
                    <a:pt x="15120" y="4437369"/>
                  </a:lnTo>
                  <a:lnTo>
                    <a:pt x="19799" y="4439879"/>
                  </a:lnTo>
                  <a:lnTo>
                    <a:pt x="24838" y="4441318"/>
                  </a:lnTo>
                  <a:lnTo>
                    <a:pt x="35633" y="4441318"/>
                  </a:lnTo>
                  <a:lnTo>
                    <a:pt x="41041" y="4439879"/>
                  </a:lnTo>
                  <a:lnTo>
                    <a:pt x="45720" y="4436997"/>
                  </a:lnTo>
                  <a:lnTo>
                    <a:pt x="50402" y="4434481"/>
                  </a:lnTo>
                  <a:lnTo>
                    <a:pt x="53999" y="4430523"/>
                  </a:lnTo>
                  <a:lnTo>
                    <a:pt x="56882" y="4425849"/>
                  </a:lnTo>
                  <a:lnTo>
                    <a:pt x="59396" y="4421162"/>
                  </a:lnTo>
                  <a:lnTo>
                    <a:pt x="60840" y="4416121"/>
                  </a:lnTo>
                  <a:lnTo>
                    <a:pt x="60742" y="25196"/>
                  </a:lnTo>
                  <a:lnTo>
                    <a:pt x="59396" y="20167"/>
                  </a:lnTo>
                  <a:lnTo>
                    <a:pt x="56525" y="15481"/>
                  </a:lnTo>
                  <a:lnTo>
                    <a:pt x="53999" y="10807"/>
                  </a:lnTo>
                  <a:lnTo>
                    <a:pt x="50035" y="7200"/>
                  </a:lnTo>
                  <a:lnTo>
                    <a:pt x="45363" y="4318"/>
                  </a:lnTo>
                  <a:lnTo>
                    <a:pt x="40674" y="1803"/>
                  </a:lnTo>
                  <a:lnTo>
                    <a:pt x="35633" y="368"/>
                  </a:lnTo>
                  <a:lnTo>
                    <a:pt x="30236" y="368"/>
                  </a:lnTo>
                  <a:lnTo>
                    <a:pt x="30604" y="0"/>
                  </a:lnTo>
                  <a:close/>
                </a:path>
              </a:pathLst>
            </a:custGeom>
            <a:solidFill>
              <a:srgbClr val="D25F0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29982" y="3518903"/>
            <a:ext cx="3510915" cy="869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Consolidate</a:t>
            </a:r>
            <a:r>
              <a:rPr dirty="0" sz="1750" spc="47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5">
                <a:solidFill>
                  <a:srgbClr val="2B2E3C"/>
                </a:solidFill>
                <a:latin typeface="Arial Unicode MS"/>
                <a:cs typeface="Arial Unicode MS"/>
              </a:rPr>
              <a:t>Industries</a:t>
            </a:r>
            <a:endParaRPr sz="1750">
              <a:latin typeface="Arial Unicode MS"/>
              <a:cs typeface="Arial Unicode MS"/>
            </a:endParaRPr>
          </a:p>
          <a:p>
            <a:pPr marL="12700" marR="5080">
              <a:lnSpc>
                <a:spcPct val="137600"/>
              </a:lnSpc>
              <a:spcBef>
                <a:spcPts val="750"/>
              </a:spcBef>
            </a:pP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Group</a:t>
            </a:r>
            <a:r>
              <a:rPr dirty="0" sz="1150" spc="2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similar</a:t>
            </a:r>
            <a:r>
              <a:rPr dirty="0" sz="1150" spc="2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categories</a:t>
            </a:r>
            <a:r>
              <a:rPr dirty="0" sz="1150" spc="2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like</a:t>
            </a:r>
            <a:r>
              <a:rPr dirty="0" sz="1150" spc="2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'Crypto</a:t>
            </a:r>
            <a:r>
              <a:rPr dirty="0" sz="1150" spc="2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Currency'</a:t>
            </a:r>
            <a:r>
              <a:rPr dirty="0" sz="1150" spc="2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2B2E3C"/>
                </a:solidFill>
                <a:latin typeface="Arial Unicode MS"/>
                <a:cs typeface="Arial Unicode MS"/>
              </a:rPr>
              <a:t>and</a:t>
            </a:r>
            <a:r>
              <a:rPr dirty="0" sz="1150" spc="-2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'CryptoCurrency'</a:t>
            </a:r>
            <a:r>
              <a:rPr dirty="0" sz="1150" spc="19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60">
                <a:solidFill>
                  <a:srgbClr val="2B2E3C"/>
                </a:solidFill>
                <a:latin typeface="Arial Unicode MS"/>
                <a:cs typeface="Arial Unicode MS"/>
              </a:rPr>
              <a:t>into</a:t>
            </a:r>
            <a:r>
              <a:rPr dirty="0" sz="1150" spc="2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a</a:t>
            </a:r>
            <a:r>
              <a:rPr dirty="0" sz="1150" spc="2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single</a:t>
            </a:r>
            <a:r>
              <a:rPr dirty="0" sz="1150" spc="2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'Crypto'</a:t>
            </a:r>
            <a:r>
              <a:rPr dirty="0" sz="1150" spc="19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2B2E3C"/>
                </a:solidFill>
                <a:latin typeface="Arial Unicode MS"/>
                <a:cs typeface="Arial Unicode MS"/>
              </a:rPr>
              <a:t>entry.</a:t>
            </a:r>
            <a:endParaRPr sz="1150">
              <a:latin typeface="Arial Unicode MS"/>
              <a:cs typeface="Arial Unicode MS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35835" y="4549317"/>
            <a:ext cx="4057650" cy="2874010"/>
            <a:chOff x="735835" y="4549317"/>
            <a:chExt cx="4057650" cy="2874010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3038" y="4549317"/>
              <a:ext cx="3742918" cy="1989721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735825" y="6709676"/>
              <a:ext cx="4057650" cy="713740"/>
            </a:xfrm>
            <a:custGeom>
              <a:avLst/>
              <a:gdLst/>
              <a:ahLst/>
              <a:cxnLst/>
              <a:rect l="l" t="t" r="r" b="b"/>
              <a:pathLst>
                <a:path w="4057650" h="713740">
                  <a:moveTo>
                    <a:pt x="4057573" y="690118"/>
                  </a:moveTo>
                  <a:lnTo>
                    <a:pt x="4057218" y="19088"/>
                  </a:lnTo>
                  <a:lnTo>
                    <a:pt x="4038498" y="368"/>
                  </a:lnTo>
                  <a:lnTo>
                    <a:pt x="3985933" y="368"/>
                  </a:lnTo>
                  <a:lnTo>
                    <a:pt x="70573" y="0"/>
                  </a:lnTo>
                  <a:lnTo>
                    <a:pt x="64935" y="368"/>
                  </a:lnTo>
                  <a:lnTo>
                    <a:pt x="18732" y="368"/>
                  </a:lnTo>
                  <a:lnTo>
                    <a:pt x="14770" y="1447"/>
                  </a:lnTo>
                  <a:lnTo>
                    <a:pt x="0" y="19088"/>
                  </a:lnTo>
                  <a:lnTo>
                    <a:pt x="0" y="694448"/>
                  </a:lnTo>
                  <a:lnTo>
                    <a:pt x="18732" y="713181"/>
                  </a:lnTo>
                  <a:lnTo>
                    <a:pt x="70142" y="713181"/>
                  </a:lnTo>
                  <a:lnTo>
                    <a:pt x="3985933" y="713181"/>
                  </a:lnTo>
                  <a:lnTo>
                    <a:pt x="3991673" y="712812"/>
                  </a:lnTo>
                  <a:lnTo>
                    <a:pt x="4038854" y="712800"/>
                  </a:lnTo>
                  <a:lnTo>
                    <a:pt x="4057472" y="694448"/>
                  </a:lnTo>
                  <a:lnTo>
                    <a:pt x="4057573" y="690118"/>
                  </a:lnTo>
                  <a:close/>
                </a:path>
              </a:pathLst>
            </a:custGeom>
            <a:solidFill>
              <a:srgbClr val="F2EBE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5088966" y="3343986"/>
            <a:ext cx="4445000" cy="4456430"/>
            <a:chOff x="5088966" y="3343986"/>
            <a:chExt cx="4445000" cy="4456430"/>
          </a:xfrm>
        </p:grpSpPr>
        <p:sp>
          <p:nvSpPr>
            <p:cNvPr id="14" name="object 14" descr=""/>
            <p:cNvSpPr/>
            <p:nvPr/>
          </p:nvSpPr>
          <p:spPr>
            <a:xfrm>
              <a:off x="5104079" y="3351606"/>
              <a:ext cx="4422140" cy="4441190"/>
            </a:xfrm>
            <a:custGeom>
              <a:avLst/>
              <a:gdLst/>
              <a:ahLst/>
              <a:cxnLst/>
              <a:rect l="l" t="t" r="r" b="b"/>
              <a:pathLst>
                <a:path w="4422140" h="4441190">
                  <a:moveTo>
                    <a:pt x="4348442" y="0"/>
                  </a:moveTo>
                  <a:lnTo>
                    <a:pt x="73075" y="0"/>
                  </a:lnTo>
                  <a:lnTo>
                    <a:pt x="63449" y="607"/>
                  </a:lnTo>
                  <a:lnTo>
                    <a:pt x="21428" y="21458"/>
                  </a:lnTo>
                  <a:lnTo>
                    <a:pt x="606" y="63442"/>
                  </a:lnTo>
                  <a:lnTo>
                    <a:pt x="0" y="73075"/>
                  </a:lnTo>
                  <a:lnTo>
                    <a:pt x="0" y="4367870"/>
                  </a:lnTo>
                  <a:lnTo>
                    <a:pt x="15098" y="4412251"/>
                  </a:lnTo>
                  <a:lnTo>
                    <a:pt x="54046" y="4438520"/>
                  </a:lnTo>
                  <a:lnTo>
                    <a:pt x="73075" y="4440950"/>
                  </a:lnTo>
                  <a:lnTo>
                    <a:pt x="4348797" y="4440593"/>
                  </a:lnTo>
                  <a:lnTo>
                    <a:pt x="4393175" y="4425494"/>
                  </a:lnTo>
                  <a:lnTo>
                    <a:pt x="4419450" y="4386548"/>
                  </a:lnTo>
                  <a:lnTo>
                    <a:pt x="4421886" y="4367518"/>
                  </a:lnTo>
                  <a:lnTo>
                    <a:pt x="4421517" y="73075"/>
                  </a:lnTo>
                  <a:lnTo>
                    <a:pt x="4406426" y="28698"/>
                  </a:lnTo>
                  <a:lnTo>
                    <a:pt x="4367476" y="2428"/>
                  </a:lnTo>
                  <a:lnTo>
                    <a:pt x="4348442" y="0"/>
                  </a:lnTo>
                  <a:close/>
                </a:path>
              </a:pathLst>
            </a:custGeom>
            <a:solidFill>
              <a:srgbClr val="FFF8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104079" y="3351606"/>
              <a:ext cx="4422140" cy="4441190"/>
            </a:xfrm>
            <a:custGeom>
              <a:avLst/>
              <a:gdLst/>
              <a:ahLst/>
              <a:cxnLst/>
              <a:rect l="l" t="t" r="r" b="b"/>
              <a:pathLst>
                <a:path w="4422140" h="4441190">
                  <a:moveTo>
                    <a:pt x="0" y="73075"/>
                  </a:moveTo>
                  <a:lnTo>
                    <a:pt x="607" y="63436"/>
                  </a:lnTo>
                  <a:lnTo>
                    <a:pt x="2428" y="54036"/>
                  </a:lnTo>
                  <a:lnTo>
                    <a:pt x="28705" y="15091"/>
                  </a:lnTo>
                  <a:lnTo>
                    <a:pt x="73075" y="0"/>
                  </a:lnTo>
                  <a:lnTo>
                    <a:pt x="4348441" y="0"/>
                  </a:lnTo>
                  <a:lnTo>
                    <a:pt x="4392969" y="15096"/>
                  </a:lnTo>
                  <a:lnTo>
                    <a:pt x="4419088" y="54081"/>
                  </a:lnTo>
                  <a:lnTo>
                    <a:pt x="4421517" y="73075"/>
                  </a:lnTo>
                  <a:lnTo>
                    <a:pt x="4421886" y="4367518"/>
                  </a:lnTo>
                  <a:lnTo>
                    <a:pt x="4421276" y="4377150"/>
                  </a:lnTo>
                  <a:lnTo>
                    <a:pt x="4419450" y="4386547"/>
                  </a:lnTo>
                  <a:lnTo>
                    <a:pt x="4393175" y="4425494"/>
                  </a:lnTo>
                  <a:lnTo>
                    <a:pt x="4348797" y="4440593"/>
                  </a:lnTo>
                  <a:lnTo>
                    <a:pt x="73075" y="4440950"/>
                  </a:lnTo>
                  <a:lnTo>
                    <a:pt x="28555" y="4425851"/>
                  </a:lnTo>
                  <a:lnTo>
                    <a:pt x="2428" y="4386867"/>
                  </a:lnTo>
                  <a:lnTo>
                    <a:pt x="0" y="4367870"/>
                  </a:lnTo>
                  <a:lnTo>
                    <a:pt x="0" y="73075"/>
                  </a:lnTo>
                  <a:close/>
                </a:path>
              </a:pathLst>
            </a:custGeom>
            <a:ln w="15119">
              <a:solidFill>
                <a:srgbClr val="E2C8B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088966" y="3351237"/>
              <a:ext cx="60960" cy="4441825"/>
            </a:xfrm>
            <a:custGeom>
              <a:avLst/>
              <a:gdLst/>
              <a:ahLst/>
              <a:cxnLst/>
              <a:rect l="l" t="t" r="r" b="b"/>
              <a:pathLst>
                <a:path w="60960" h="4441825">
                  <a:moveTo>
                    <a:pt x="30594" y="0"/>
                  </a:moveTo>
                  <a:lnTo>
                    <a:pt x="25196" y="0"/>
                  </a:lnTo>
                  <a:lnTo>
                    <a:pt x="19799" y="1447"/>
                  </a:lnTo>
                  <a:lnTo>
                    <a:pt x="15113" y="4318"/>
                  </a:lnTo>
                  <a:lnTo>
                    <a:pt x="10439" y="6845"/>
                  </a:lnTo>
                  <a:lnTo>
                    <a:pt x="6832" y="10807"/>
                  </a:lnTo>
                  <a:lnTo>
                    <a:pt x="3949" y="15481"/>
                  </a:lnTo>
                  <a:lnTo>
                    <a:pt x="1435" y="20167"/>
                  </a:lnTo>
                  <a:lnTo>
                    <a:pt x="0" y="25196"/>
                  </a:lnTo>
                  <a:lnTo>
                    <a:pt x="0" y="4416121"/>
                  </a:lnTo>
                  <a:lnTo>
                    <a:pt x="1079" y="4421519"/>
                  </a:lnTo>
                  <a:lnTo>
                    <a:pt x="3949" y="4426202"/>
                  </a:lnTo>
                  <a:lnTo>
                    <a:pt x="6477" y="4430875"/>
                  </a:lnTo>
                  <a:lnTo>
                    <a:pt x="10439" y="4434481"/>
                  </a:lnTo>
                  <a:lnTo>
                    <a:pt x="15113" y="4437369"/>
                  </a:lnTo>
                  <a:lnTo>
                    <a:pt x="19799" y="4439879"/>
                  </a:lnTo>
                  <a:lnTo>
                    <a:pt x="24828" y="4441318"/>
                  </a:lnTo>
                  <a:lnTo>
                    <a:pt x="35636" y="4441318"/>
                  </a:lnTo>
                  <a:lnTo>
                    <a:pt x="41033" y="4439879"/>
                  </a:lnTo>
                  <a:lnTo>
                    <a:pt x="45720" y="4436997"/>
                  </a:lnTo>
                  <a:lnTo>
                    <a:pt x="50393" y="4434481"/>
                  </a:lnTo>
                  <a:lnTo>
                    <a:pt x="53987" y="4430523"/>
                  </a:lnTo>
                  <a:lnTo>
                    <a:pt x="56870" y="4425849"/>
                  </a:lnTo>
                  <a:lnTo>
                    <a:pt x="59397" y="4421162"/>
                  </a:lnTo>
                  <a:lnTo>
                    <a:pt x="60833" y="4416121"/>
                  </a:lnTo>
                  <a:lnTo>
                    <a:pt x="60735" y="25196"/>
                  </a:lnTo>
                  <a:lnTo>
                    <a:pt x="59397" y="20167"/>
                  </a:lnTo>
                  <a:lnTo>
                    <a:pt x="56515" y="15481"/>
                  </a:lnTo>
                  <a:lnTo>
                    <a:pt x="53987" y="10807"/>
                  </a:lnTo>
                  <a:lnTo>
                    <a:pt x="50038" y="7200"/>
                  </a:lnTo>
                  <a:lnTo>
                    <a:pt x="45351" y="4318"/>
                  </a:lnTo>
                  <a:lnTo>
                    <a:pt x="40678" y="1803"/>
                  </a:lnTo>
                  <a:lnTo>
                    <a:pt x="35636" y="368"/>
                  </a:lnTo>
                  <a:lnTo>
                    <a:pt x="30238" y="368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D25F0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303773" y="3518903"/>
            <a:ext cx="3987800" cy="869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Clean</a:t>
            </a:r>
            <a:r>
              <a:rPr dirty="0" sz="1750" spc="1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60">
                <a:solidFill>
                  <a:srgbClr val="2B2E3C"/>
                </a:solidFill>
                <a:latin typeface="Arial Unicode MS"/>
                <a:cs typeface="Arial Unicode MS"/>
              </a:rPr>
              <a:t>Country</a:t>
            </a:r>
            <a:r>
              <a:rPr dirty="0" sz="1750" spc="2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B2E3C"/>
                </a:solidFill>
                <a:latin typeface="Arial Unicode MS"/>
                <a:cs typeface="Arial Unicode MS"/>
              </a:rPr>
              <a:t>Names</a:t>
            </a:r>
            <a:endParaRPr sz="1750">
              <a:latin typeface="Arial Unicode MS"/>
              <a:cs typeface="Arial Unicode MS"/>
            </a:endParaRPr>
          </a:p>
          <a:p>
            <a:pPr marL="12700" marR="5080">
              <a:lnSpc>
                <a:spcPct val="137600"/>
              </a:lnSpc>
              <a:spcBef>
                <a:spcPts val="750"/>
              </a:spcBef>
            </a:pP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Remove</a:t>
            </a:r>
            <a:r>
              <a:rPr dirty="0" sz="11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trailing</a:t>
            </a:r>
            <a:r>
              <a:rPr dirty="0" sz="11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50">
                <a:solidFill>
                  <a:srgbClr val="2B2E3C"/>
                </a:solidFill>
                <a:latin typeface="Arial Unicode MS"/>
                <a:cs typeface="Arial Unicode MS"/>
              </a:rPr>
              <a:t>punctuation</a:t>
            </a:r>
            <a:r>
              <a:rPr dirty="0" sz="1150" spc="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70">
                <a:solidFill>
                  <a:srgbClr val="2B2E3C"/>
                </a:solidFill>
                <a:latin typeface="Arial Unicode MS"/>
                <a:cs typeface="Arial Unicode MS"/>
              </a:rPr>
              <a:t>or</a:t>
            </a:r>
            <a:r>
              <a:rPr dirty="0" sz="11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extra</a:t>
            </a:r>
            <a:r>
              <a:rPr dirty="0" sz="11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spaces</a:t>
            </a:r>
            <a:r>
              <a:rPr dirty="0" sz="1150" spc="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70">
                <a:solidFill>
                  <a:srgbClr val="2B2E3C"/>
                </a:solidFill>
                <a:latin typeface="Arial Unicode MS"/>
                <a:cs typeface="Arial Unicode MS"/>
              </a:rPr>
              <a:t>from</a:t>
            </a:r>
            <a:r>
              <a:rPr dirty="0" sz="11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2B2E3C"/>
                </a:solidFill>
                <a:latin typeface="Arial Unicode MS"/>
                <a:cs typeface="Arial Unicode MS"/>
              </a:rPr>
              <a:t>country</a:t>
            </a:r>
            <a:r>
              <a:rPr dirty="0" sz="1150" spc="-1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2B2E3C"/>
                </a:solidFill>
                <a:latin typeface="Arial Unicode MS"/>
                <a:cs typeface="Arial Unicode MS"/>
              </a:rPr>
              <a:t>names.</a:t>
            </a:r>
            <a:endParaRPr sz="1150">
              <a:latin typeface="Arial Unicode MS"/>
              <a:cs typeface="Arial Unicode MS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309286" y="4549317"/>
            <a:ext cx="4057650" cy="3076575"/>
            <a:chOff x="5309286" y="4549317"/>
            <a:chExt cx="4057650" cy="3076575"/>
          </a:xfrm>
        </p:grpSpPr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16842" y="4549317"/>
              <a:ext cx="4042435" cy="2192756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309286" y="6912355"/>
              <a:ext cx="4057650" cy="713740"/>
            </a:xfrm>
            <a:custGeom>
              <a:avLst/>
              <a:gdLst/>
              <a:ahLst/>
              <a:cxnLst/>
              <a:rect l="l" t="t" r="r" b="b"/>
              <a:pathLst>
                <a:path w="4057650" h="713740">
                  <a:moveTo>
                    <a:pt x="4057548" y="690118"/>
                  </a:moveTo>
                  <a:lnTo>
                    <a:pt x="4057192" y="19088"/>
                  </a:lnTo>
                  <a:lnTo>
                    <a:pt x="4038473" y="368"/>
                  </a:lnTo>
                  <a:lnTo>
                    <a:pt x="3986276" y="368"/>
                  </a:lnTo>
                  <a:lnTo>
                    <a:pt x="70916" y="0"/>
                  </a:lnTo>
                  <a:lnTo>
                    <a:pt x="65278" y="368"/>
                  </a:lnTo>
                  <a:lnTo>
                    <a:pt x="18719" y="368"/>
                  </a:lnTo>
                  <a:lnTo>
                    <a:pt x="14757" y="1447"/>
                  </a:lnTo>
                  <a:lnTo>
                    <a:pt x="0" y="19088"/>
                  </a:lnTo>
                  <a:lnTo>
                    <a:pt x="0" y="694448"/>
                  </a:lnTo>
                  <a:lnTo>
                    <a:pt x="18719" y="713181"/>
                  </a:lnTo>
                  <a:lnTo>
                    <a:pt x="70472" y="713181"/>
                  </a:lnTo>
                  <a:lnTo>
                    <a:pt x="3986276" y="713181"/>
                  </a:lnTo>
                  <a:lnTo>
                    <a:pt x="3992029" y="712812"/>
                  </a:lnTo>
                  <a:lnTo>
                    <a:pt x="4038828" y="712800"/>
                  </a:lnTo>
                  <a:lnTo>
                    <a:pt x="4057446" y="694448"/>
                  </a:lnTo>
                  <a:lnTo>
                    <a:pt x="4057548" y="690118"/>
                  </a:lnTo>
                  <a:close/>
                </a:path>
              </a:pathLst>
            </a:custGeom>
            <a:solidFill>
              <a:srgbClr val="F2EBE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9662401" y="3343986"/>
            <a:ext cx="4445635" cy="4456430"/>
            <a:chOff x="9662401" y="3343986"/>
            <a:chExt cx="4445635" cy="4456430"/>
          </a:xfrm>
        </p:grpSpPr>
        <p:sp>
          <p:nvSpPr>
            <p:cNvPr id="22" name="object 22" descr=""/>
            <p:cNvSpPr/>
            <p:nvPr/>
          </p:nvSpPr>
          <p:spPr>
            <a:xfrm>
              <a:off x="9677882" y="3351606"/>
              <a:ext cx="4422140" cy="4441190"/>
            </a:xfrm>
            <a:custGeom>
              <a:avLst/>
              <a:gdLst/>
              <a:ahLst/>
              <a:cxnLst/>
              <a:rect l="l" t="t" r="r" b="b"/>
              <a:pathLst>
                <a:path w="4422140" h="4441190">
                  <a:moveTo>
                    <a:pt x="4348505" y="0"/>
                  </a:moveTo>
                  <a:lnTo>
                    <a:pt x="73075" y="0"/>
                  </a:lnTo>
                  <a:lnTo>
                    <a:pt x="63449" y="607"/>
                  </a:lnTo>
                  <a:lnTo>
                    <a:pt x="21418" y="21458"/>
                  </a:lnTo>
                  <a:lnTo>
                    <a:pt x="606" y="63442"/>
                  </a:lnTo>
                  <a:lnTo>
                    <a:pt x="0" y="73075"/>
                  </a:lnTo>
                  <a:lnTo>
                    <a:pt x="0" y="4367870"/>
                  </a:lnTo>
                  <a:lnTo>
                    <a:pt x="15091" y="4412251"/>
                  </a:lnTo>
                  <a:lnTo>
                    <a:pt x="54046" y="4438520"/>
                  </a:lnTo>
                  <a:lnTo>
                    <a:pt x="73075" y="4440950"/>
                  </a:lnTo>
                  <a:lnTo>
                    <a:pt x="4348759" y="4440593"/>
                  </a:lnTo>
                  <a:lnTo>
                    <a:pt x="4393219" y="4425494"/>
                  </a:lnTo>
                  <a:lnTo>
                    <a:pt x="4419450" y="4386548"/>
                  </a:lnTo>
                  <a:lnTo>
                    <a:pt x="4421911" y="4367518"/>
                  </a:lnTo>
                  <a:lnTo>
                    <a:pt x="4421530" y="73075"/>
                  </a:lnTo>
                  <a:lnTo>
                    <a:pt x="4406389" y="28698"/>
                  </a:lnTo>
                  <a:lnTo>
                    <a:pt x="4367523" y="2428"/>
                  </a:lnTo>
                  <a:lnTo>
                    <a:pt x="4348505" y="0"/>
                  </a:lnTo>
                  <a:close/>
                </a:path>
              </a:pathLst>
            </a:custGeom>
            <a:solidFill>
              <a:srgbClr val="FFF8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677882" y="3351606"/>
              <a:ext cx="4422140" cy="4441190"/>
            </a:xfrm>
            <a:custGeom>
              <a:avLst/>
              <a:gdLst/>
              <a:ahLst/>
              <a:cxnLst/>
              <a:rect l="l" t="t" r="r" b="b"/>
              <a:pathLst>
                <a:path w="4422140" h="4441190">
                  <a:moveTo>
                    <a:pt x="0" y="73075"/>
                  </a:moveTo>
                  <a:lnTo>
                    <a:pt x="607" y="63436"/>
                  </a:lnTo>
                  <a:lnTo>
                    <a:pt x="2428" y="54036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4348505" y="0"/>
                  </a:lnTo>
                  <a:lnTo>
                    <a:pt x="4392999" y="15096"/>
                  </a:lnTo>
                  <a:lnTo>
                    <a:pt x="4419069" y="54081"/>
                  </a:lnTo>
                  <a:lnTo>
                    <a:pt x="4421530" y="73075"/>
                  </a:lnTo>
                  <a:lnTo>
                    <a:pt x="4421911" y="4367518"/>
                  </a:lnTo>
                  <a:lnTo>
                    <a:pt x="4421294" y="4377150"/>
                  </a:lnTo>
                  <a:lnTo>
                    <a:pt x="4419450" y="4386547"/>
                  </a:lnTo>
                  <a:lnTo>
                    <a:pt x="4393219" y="4425494"/>
                  </a:lnTo>
                  <a:lnTo>
                    <a:pt x="4348759" y="4440593"/>
                  </a:lnTo>
                  <a:lnTo>
                    <a:pt x="73075" y="4440950"/>
                  </a:lnTo>
                  <a:lnTo>
                    <a:pt x="28548" y="4425851"/>
                  </a:lnTo>
                  <a:lnTo>
                    <a:pt x="2428" y="4386867"/>
                  </a:lnTo>
                  <a:lnTo>
                    <a:pt x="0" y="4367870"/>
                  </a:lnTo>
                  <a:lnTo>
                    <a:pt x="0" y="73075"/>
                  </a:lnTo>
                  <a:close/>
                </a:path>
              </a:pathLst>
            </a:custGeom>
            <a:ln w="15119">
              <a:solidFill>
                <a:srgbClr val="E2C8B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662401" y="3351237"/>
              <a:ext cx="60960" cy="4441825"/>
            </a:xfrm>
            <a:custGeom>
              <a:avLst/>
              <a:gdLst/>
              <a:ahLst/>
              <a:cxnLst/>
              <a:rect l="l" t="t" r="r" b="b"/>
              <a:pathLst>
                <a:path w="60959" h="4441825">
                  <a:moveTo>
                    <a:pt x="30594" y="0"/>
                  </a:moveTo>
                  <a:lnTo>
                    <a:pt x="25196" y="0"/>
                  </a:lnTo>
                  <a:lnTo>
                    <a:pt x="19799" y="1447"/>
                  </a:lnTo>
                  <a:lnTo>
                    <a:pt x="15113" y="4318"/>
                  </a:lnTo>
                  <a:lnTo>
                    <a:pt x="10439" y="6845"/>
                  </a:lnTo>
                  <a:lnTo>
                    <a:pt x="6832" y="10807"/>
                  </a:lnTo>
                  <a:lnTo>
                    <a:pt x="3962" y="15481"/>
                  </a:lnTo>
                  <a:lnTo>
                    <a:pt x="1435" y="20167"/>
                  </a:lnTo>
                  <a:lnTo>
                    <a:pt x="0" y="25196"/>
                  </a:lnTo>
                  <a:lnTo>
                    <a:pt x="0" y="4416121"/>
                  </a:lnTo>
                  <a:lnTo>
                    <a:pt x="1079" y="4421519"/>
                  </a:lnTo>
                  <a:lnTo>
                    <a:pt x="3962" y="4426202"/>
                  </a:lnTo>
                  <a:lnTo>
                    <a:pt x="6477" y="4430875"/>
                  </a:lnTo>
                  <a:lnTo>
                    <a:pt x="10439" y="4434481"/>
                  </a:lnTo>
                  <a:lnTo>
                    <a:pt x="15113" y="4437369"/>
                  </a:lnTo>
                  <a:lnTo>
                    <a:pt x="19799" y="4439879"/>
                  </a:lnTo>
                  <a:lnTo>
                    <a:pt x="24841" y="4441318"/>
                  </a:lnTo>
                  <a:lnTo>
                    <a:pt x="35636" y="4441318"/>
                  </a:lnTo>
                  <a:lnTo>
                    <a:pt x="41033" y="4439879"/>
                  </a:lnTo>
                  <a:lnTo>
                    <a:pt x="45720" y="4436997"/>
                  </a:lnTo>
                  <a:lnTo>
                    <a:pt x="50393" y="4434481"/>
                  </a:lnTo>
                  <a:lnTo>
                    <a:pt x="54000" y="4430523"/>
                  </a:lnTo>
                  <a:lnTo>
                    <a:pt x="56883" y="4425849"/>
                  </a:lnTo>
                  <a:lnTo>
                    <a:pt x="59397" y="4421162"/>
                  </a:lnTo>
                  <a:lnTo>
                    <a:pt x="60833" y="4416121"/>
                  </a:lnTo>
                  <a:lnTo>
                    <a:pt x="60735" y="25196"/>
                  </a:lnTo>
                  <a:lnTo>
                    <a:pt x="59397" y="20167"/>
                  </a:lnTo>
                  <a:lnTo>
                    <a:pt x="56515" y="15481"/>
                  </a:lnTo>
                  <a:lnTo>
                    <a:pt x="54000" y="10807"/>
                  </a:lnTo>
                  <a:lnTo>
                    <a:pt x="50038" y="7200"/>
                  </a:lnTo>
                  <a:lnTo>
                    <a:pt x="45364" y="4318"/>
                  </a:lnTo>
                  <a:lnTo>
                    <a:pt x="40678" y="1803"/>
                  </a:lnTo>
                  <a:lnTo>
                    <a:pt x="35636" y="368"/>
                  </a:lnTo>
                  <a:lnTo>
                    <a:pt x="30238" y="368"/>
                  </a:lnTo>
                  <a:lnTo>
                    <a:pt x="30594" y="0"/>
                  </a:lnTo>
                  <a:close/>
                </a:path>
              </a:pathLst>
            </a:custGeom>
            <a:solidFill>
              <a:srgbClr val="D25F0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9877221" y="3518903"/>
            <a:ext cx="3726815" cy="869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60">
                <a:solidFill>
                  <a:srgbClr val="2B2E3C"/>
                </a:solidFill>
                <a:latin typeface="Arial Unicode MS"/>
                <a:cs typeface="Arial Unicode MS"/>
              </a:rPr>
              <a:t>Format</a:t>
            </a:r>
            <a:r>
              <a:rPr dirty="0" sz="1750" spc="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Date</a:t>
            </a:r>
            <a:r>
              <a:rPr dirty="0" sz="1750" spc="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B2E3C"/>
                </a:solidFill>
                <a:latin typeface="Arial Unicode MS"/>
                <a:cs typeface="Arial Unicode MS"/>
              </a:rPr>
              <a:t>Fields</a:t>
            </a:r>
            <a:endParaRPr sz="1750">
              <a:latin typeface="Arial Unicode MS"/>
              <a:cs typeface="Arial Unicode MS"/>
            </a:endParaRPr>
          </a:p>
          <a:p>
            <a:pPr marL="12700" marR="5080" indent="-635">
              <a:lnSpc>
                <a:spcPct val="137600"/>
              </a:lnSpc>
              <a:spcBef>
                <a:spcPts val="750"/>
              </a:spcBef>
            </a:pP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Convert</a:t>
            </a:r>
            <a:r>
              <a:rPr dirty="0" sz="1150" spc="1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date</a:t>
            </a:r>
            <a:r>
              <a:rPr dirty="0" sz="1150" spc="1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strings</a:t>
            </a:r>
            <a:r>
              <a:rPr dirty="0" sz="1150" spc="1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60">
                <a:solidFill>
                  <a:srgbClr val="2B2E3C"/>
                </a:solidFill>
                <a:latin typeface="Arial Unicode MS"/>
                <a:cs typeface="Arial Unicode MS"/>
              </a:rPr>
              <a:t>into</a:t>
            </a:r>
            <a:r>
              <a:rPr dirty="0" sz="1150" spc="1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a</a:t>
            </a:r>
            <a:r>
              <a:rPr dirty="0" sz="1150" spc="1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consistent</a:t>
            </a:r>
            <a:r>
              <a:rPr dirty="0" sz="1150" spc="1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-85">
                <a:solidFill>
                  <a:srgbClr val="D25F0F"/>
                </a:solidFill>
                <a:latin typeface="Arial Unicode MS"/>
                <a:cs typeface="Arial Unicode MS"/>
              </a:rPr>
              <a:t>DATE</a:t>
            </a:r>
            <a:r>
              <a:rPr dirty="0" sz="1150" spc="140">
                <a:solidFill>
                  <a:srgbClr val="D25F0F"/>
                </a:solidFill>
                <a:latin typeface="Arial"/>
                <a:cs typeface="Arial"/>
              </a:rPr>
              <a:t> </a:t>
            </a:r>
            <a:r>
              <a:rPr dirty="0" sz="1150" spc="65">
                <a:solidFill>
                  <a:srgbClr val="2B2E3C"/>
                </a:solidFill>
                <a:latin typeface="Arial Unicode MS"/>
                <a:cs typeface="Arial Unicode MS"/>
              </a:rPr>
              <a:t>format</a:t>
            </a:r>
            <a:r>
              <a:rPr dirty="0" sz="1150" spc="1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2B2E3C"/>
                </a:solidFill>
                <a:latin typeface="Arial Unicode MS"/>
                <a:cs typeface="Arial Unicode MS"/>
              </a:rPr>
              <a:t>for</a:t>
            </a:r>
            <a:r>
              <a:rPr dirty="0" sz="1150" spc="-2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B2E3C"/>
                </a:solidFill>
                <a:latin typeface="Arial Unicode MS"/>
                <a:cs typeface="Arial Unicode MS"/>
              </a:rPr>
              <a:t>accurate</a:t>
            </a:r>
            <a:r>
              <a:rPr dirty="0" sz="11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50">
                <a:solidFill>
                  <a:srgbClr val="2B2E3C"/>
                </a:solidFill>
                <a:latin typeface="Arial Unicode MS"/>
                <a:cs typeface="Arial Unicode MS"/>
              </a:rPr>
              <a:t>temporal</a:t>
            </a:r>
            <a:r>
              <a:rPr dirty="0" sz="1150" spc="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2B2E3C"/>
                </a:solidFill>
                <a:latin typeface="Arial Unicode MS"/>
                <a:cs typeface="Arial Unicode MS"/>
              </a:rPr>
              <a:t>analysis.</a:t>
            </a:r>
            <a:endParaRPr sz="1150">
              <a:latin typeface="Arial Unicode MS"/>
              <a:cs typeface="Arial Unicode MS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9882721" y="4549317"/>
            <a:ext cx="4636770" cy="3528695"/>
            <a:chOff x="9882721" y="4549317"/>
            <a:chExt cx="4636770" cy="3528695"/>
          </a:xfrm>
        </p:grpSpPr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90277" y="4549317"/>
              <a:ext cx="4042435" cy="2072881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9882721" y="6792836"/>
              <a:ext cx="4057650" cy="713740"/>
            </a:xfrm>
            <a:custGeom>
              <a:avLst/>
              <a:gdLst/>
              <a:ahLst/>
              <a:cxnLst/>
              <a:rect l="l" t="t" r="r" b="b"/>
              <a:pathLst>
                <a:path w="4057650" h="713740">
                  <a:moveTo>
                    <a:pt x="4057561" y="690118"/>
                  </a:moveTo>
                  <a:lnTo>
                    <a:pt x="4057180" y="19088"/>
                  </a:lnTo>
                  <a:lnTo>
                    <a:pt x="4038511" y="368"/>
                  </a:lnTo>
                  <a:lnTo>
                    <a:pt x="3986314" y="368"/>
                  </a:lnTo>
                  <a:lnTo>
                    <a:pt x="70916" y="0"/>
                  </a:lnTo>
                  <a:lnTo>
                    <a:pt x="65278" y="368"/>
                  </a:lnTo>
                  <a:lnTo>
                    <a:pt x="18719" y="368"/>
                  </a:lnTo>
                  <a:lnTo>
                    <a:pt x="14757" y="1447"/>
                  </a:lnTo>
                  <a:lnTo>
                    <a:pt x="0" y="19088"/>
                  </a:lnTo>
                  <a:lnTo>
                    <a:pt x="0" y="694448"/>
                  </a:lnTo>
                  <a:lnTo>
                    <a:pt x="18719" y="713168"/>
                  </a:lnTo>
                  <a:lnTo>
                    <a:pt x="70485" y="713168"/>
                  </a:lnTo>
                  <a:lnTo>
                    <a:pt x="3986314" y="713168"/>
                  </a:lnTo>
                  <a:lnTo>
                    <a:pt x="3992016" y="712812"/>
                  </a:lnTo>
                  <a:lnTo>
                    <a:pt x="4038892" y="712800"/>
                  </a:lnTo>
                  <a:lnTo>
                    <a:pt x="4057459" y="694448"/>
                  </a:lnTo>
                  <a:lnTo>
                    <a:pt x="4057561" y="690118"/>
                  </a:lnTo>
                  <a:close/>
                </a:path>
              </a:pathLst>
            </a:custGeom>
            <a:solidFill>
              <a:srgbClr val="F2EB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2753498" y="7803386"/>
              <a:ext cx="1765935" cy="274320"/>
            </a:xfrm>
            <a:custGeom>
              <a:avLst/>
              <a:gdLst/>
              <a:ahLst/>
              <a:cxnLst/>
              <a:rect l="l" t="t" r="r" b="b"/>
              <a:pathLst>
                <a:path w="1765934" h="274320">
                  <a:moveTo>
                    <a:pt x="274142" y="0"/>
                  </a:moveTo>
                  <a:lnTo>
                    <a:pt x="0" y="0"/>
                  </a:lnTo>
                  <a:lnTo>
                    <a:pt x="0" y="274142"/>
                  </a:lnTo>
                  <a:lnTo>
                    <a:pt x="274142" y="0"/>
                  </a:lnTo>
                  <a:close/>
                </a:path>
                <a:path w="1765934" h="274320">
                  <a:moveTo>
                    <a:pt x="274142" y="0"/>
                  </a:moveTo>
                  <a:lnTo>
                    <a:pt x="0" y="274142"/>
                  </a:lnTo>
                  <a:lnTo>
                    <a:pt x="274142" y="274142"/>
                  </a:lnTo>
                  <a:lnTo>
                    <a:pt x="274142" y="0"/>
                  </a:lnTo>
                  <a:close/>
                </a:path>
                <a:path w="1765934" h="274320">
                  <a:moveTo>
                    <a:pt x="1491329" y="0"/>
                  </a:moveTo>
                  <a:lnTo>
                    <a:pt x="274142" y="0"/>
                  </a:lnTo>
                  <a:lnTo>
                    <a:pt x="274142" y="274142"/>
                  </a:lnTo>
                  <a:lnTo>
                    <a:pt x="1491329" y="274142"/>
                  </a:lnTo>
                  <a:lnTo>
                    <a:pt x="1491329" y="0"/>
                  </a:lnTo>
                  <a:close/>
                </a:path>
                <a:path w="1765934" h="274320">
                  <a:moveTo>
                    <a:pt x="1765472" y="0"/>
                  </a:moveTo>
                  <a:lnTo>
                    <a:pt x="1491329" y="0"/>
                  </a:lnTo>
                  <a:lnTo>
                    <a:pt x="1491329" y="274142"/>
                  </a:lnTo>
                  <a:lnTo>
                    <a:pt x="1765472" y="0"/>
                  </a:lnTo>
                  <a:close/>
                </a:path>
                <a:path w="1765934" h="274320">
                  <a:moveTo>
                    <a:pt x="1765472" y="0"/>
                  </a:moveTo>
                  <a:lnTo>
                    <a:pt x="1491329" y="274142"/>
                  </a:lnTo>
                  <a:lnTo>
                    <a:pt x="1765472" y="274142"/>
                  </a:lnTo>
                  <a:lnTo>
                    <a:pt x="17654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5"/>
              <a:t>Handling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 spc="70"/>
              <a:t>Nulls</a:t>
            </a:r>
            <a:r>
              <a:rPr dirty="0" spc="35">
                <a:latin typeface="Arial"/>
                <a:cs typeface="Arial"/>
              </a:rPr>
              <a:t> </a:t>
            </a:r>
            <a:r>
              <a:rPr dirty="0" spc="105"/>
              <a:t>and</a:t>
            </a:r>
            <a:r>
              <a:rPr dirty="0" spc="30">
                <a:latin typeface="Arial"/>
                <a:cs typeface="Arial"/>
              </a:rPr>
              <a:t> </a:t>
            </a:r>
            <a:r>
              <a:rPr dirty="0" spc="70"/>
              <a:t>Empty</a:t>
            </a:r>
            <a:r>
              <a:rPr dirty="0" spc="25">
                <a:latin typeface="Arial"/>
                <a:cs typeface="Arial"/>
              </a:rPr>
              <a:t> </a:t>
            </a:r>
            <a:r>
              <a:rPr dirty="0" spc="-10"/>
              <a:t>Strings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443" y="1360081"/>
            <a:ext cx="6499440" cy="649944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7524725" y="2564282"/>
            <a:ext cx="6517640" cy="1365250"/>
          </a:xfrm>
          <a:custGeom>
            <a:avLst/>
            <a:gdLst/>
            <a:ahLst/>
            <a:cxnLst/>
            <a:rect l="l" t="t" r="r" b="b"/>
            <a:pathLst>
              <a:path w="6517640" h="1365250">
                <a:moveTo>
                  <a:pt x="6517411" y="1343520"/>
                </a:moveTo>
                <a:lnTo>
                  <a:pt x="6517322" y="21234"/>
                </a:lnTo>
                <a:lnTo>
                  <a:pt x="6516395" y="17272"/>
                </a:lnTo>
                <a:lnTo>
                  <a:pt x="6513855" y="13322"/>
                </a:lnTo>
                <a:lnTo>
                  <a:pt x="6511696" y="9359"/>
                </a:lnTo>
                <a:lnTo>
                  <a:pt x="6508394" y="6121"/>
                </a:lnTo>
                <a:lnTo>
                  <a:pt x="6504457" y="3962"/>
                </a:lnTo>
                <a:lnTo>
                  <a:pt x="6500520" y="1435"/>
                </a:lnTo>
                <a:lnTo>
                  <a:pt x="6496202" y="355"/>
                </a:lnTo>
                <a:lnTo>
                  <a:pt x="6436131" y="355"/>
                </a:lnTo>
                <a:lnTo>
                  <a:pt x="3260255" y="190"/>
                </a:lnTo>
                <a:lnTo>
                  <a:pt x="81711" y="0"/>
                </a:lnTo>
                <a:lnTo>
                  <a:pt x="21590" y="0"/>
                </a:lnTo>
                <a:lnTo>
                  <a:pt x="17272" y="1079"/>
                </a:lnTo>
                <a:lnTo>
                  <a:pt x="13309" y="3594"/>
                </a:lnTo>
                <a:lnTo>
                  <a:pt x="9359" y="5753"/>
                </a:lnTo>
                <a:lnTo>
                  <a:pt x="6121" y="8991"/>
                </a:lnTo>
                <a:lnTo>
                  <a:pt x="3949" y="12954"/>
                </a:lnTo>
                <a:lnTo>
                  <a:pt x="1435" y="16916"/>
                </a:lnTo>
                <a:lnTo>
                  <a:pt x="355" y="21234"/>
                </a:lnTo>
                <a:lnTo>
                  <a:pt x="0" y="1343520"/>
                </a:lnTo>
                <a:lnTo>
                  <a:pt x="1079" y="1347838"/>
                </a:lnTo>
                <a:lnTo>
                  <a:pt x="3594" y="1351800"/>
                </a:lnTo>
                <a:lnTo>
                  <a:pt x="5753" y="1355763"/>
                </a:lnTo>
                <a:lnTo>
                  <a:pt x="8991" y="1359001"/>
                </a:lnTo>
                <a:lnTo>
                  <a:pt x="12954" y="1361160"/>
                </a:lnTo>
                <a:lnTo>
                  <a:pt x="16916" y="1363675"/>
                </a:lnTo>
                <a:lnTo>
                  <a:pt x="21234" y="1364754"/>
                </a:lnTo>
                <a:lnTo>
                  <a:pt x="81356" y="1364754"/>
                </a:lnTo>
                <a:lnTo>
                  <a:pt x="6436131" y="1364754"/>
                </a:lnTo>
                <a:lnTo>
                  <a:pt x="6496202" y="1364754"/>
                </a:lnTo>
                <a:lnTo>
                  <a:pt x="6500520" y="1363675"/>
                </a:lnTo>
                <a:lnTo>
                  <a:pt x="6504457" y="1361160"/>
                </a:lnTo>
                <a:lnTo>
                  <a:pt x="6508394" y="1359001"/>
                </a:lnTo>
                <a:lnTo>
                  <a:pt x="6511696" y="1355763"/>
                </a:lnTo>
                <a:lnTo>
                  <a:pt x="6513855" y="1351800"/>
                </a:lnTo>
                <a:lnTo>
                  <a:pt x="6516395" y="1347838"/>
                </a:lnTo>
                <a:lnTo>
                  <a:pt x="6517411" y="1343520"/>
                </a:lnTo>
                <a:close/>
              </a:path>
            </a:pathLst>
          </a:custGeom>
          <a:solidFill>
            <a:srgbClr val="F2EB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43815">
              <a:lnSpc>
                <a:spcPct val="132600"/>
              </a:lnSpc>
              <a:spcBef>
                <a:spcPts val="100"/>
              </a:spcBef>
            </a:pPr>
            <a:r>
              <a:rPr dirty="0"/>
              <a:t>For</a:t>
            </a:r>
            <a:r>
              <a:rPr dirty="0" spc="75">
                <a:latin typeface="Arial"/>
                <a:cs typeface="Arial"/>
              </a:rPr>
              <a:t> </a:t>
            </a:r>
            <a:r>
              <a:rPr dirty="0"/>
              <a:t>categorical</a:t>
            </a:r>
            <a:r>
              <a:rPr dirty="0" spc="95">
                <a:latin typeface="Arial"/>
                <a:cs typeface="Arial"/>
              </a:rPr>
              <a:t> </a:t>
            </a:r>
            <a:r>
              <a:rPr dirty="0"/>
              <a:t>fields,</a:t>
            </a:r>
            <a:r>
              <a:rPr dirty="0" spc="85">
                <a:latin typeface="Arial"/>
                <a:cs typeface="Arial"/>
              </a:rPr>
              <a:t> </a:t>
            </a:r>
            <a:r>
              <a:rPr dirty="0"/>
              <a:t>it's</a:t>
            </a:r>
            <a:r>
              <a:rPr dirty="0" spc="90">
                <a:latin typeface="Arial"/>
                <a:cs typeface="Arial"/>
              </a:rPr>
              <a:t> </a:t>
            </a:r>
            <a:r>
              <a:rPr dirty="0" spc="65"/>
              <a:t>often</a:t>
            </a:r>
            <a:r>
              <a:rPr dirty="0" spc="90">
                <a:latin typeface="Arial"/>
                <a:cs typeface="Arial"/>
              </a:rPr>
              <a:t> </a:t>
            </a:r>
            <a:r>
              <a:rPr dirty="0"/>
              <a:t>beneficial</a:t>
            </a:r>
            <a:r>
              <a:rPr dirty="0" spc="85">
                <a:latin typeface="Arial"/>
                <a:cs typeface="Arial"/>
              </a:rPr>
              <a:t> </a:t>
            </a:r>
            <a:r>
              <a:rPr dirty="0" spc="80"/>
              <a:t>to</a:t>
            </a:r>
            <a:r>
              <a:rPr dirty="0" spc="95">
                <a:latin typeface="Arial"/>
                <a:cs typeface="Arial"/>
              </a:rPr>
              <a:t> </a:t>
            </a:r>
            <a:r>
              <a:rPr dirty="0" spc="45"/>
              <a:t>convert</a:t>
            </a:r>
            <a:r>
              <a:rPr dirty="0" spc="95">
                <a:latin typeface="Arial"/>
                <a:cs typeface="Arial"/>
              </a:rPr>
              <a:t> </a:t>
            </a:r>
            <a:r>
              <a:rPr dirty="0" spc="60"/>
              <a:t>empty</a:t>
            </a:r>
            <a:r>
              <a:rPr dirty="0" spc="85">
                <a:latin typeface="Arial"/>
                <a:cs typeface="Arial"/>
              </a:rPr>
              <a:t> </a:t>
            </a:r>
            <a:r>
              <a:rPr dirty="0" spc="45"/>
              <a:t>strings</a:t>
            </a:r>
            <a:r>
              <a:rPr dirty="0" spc="95">
                <a:latin typeface="Arial"/>
                <a:cs typeface="Arial"/>
              </a:rPr>
              <a:t> </a:t>
            </a:r>
            <a:r>
              <a:rPr dirty="0" spc="80"/>
              <a:t>to</a:t>
            </a:r>
            <a:r>
              <a:rPr dirty="0" spc="125">
                <a:latin typeface="Arial"/>
                <a:cs typeface="Arial"/>
              </a:rPr>
              <a:t> </a:t>
            </a:r>
            <a:r>
              <a:rPr dirty="0">
                <a:solidFill>
                  <a:srgbClr val="D25F0F"/>
                </a:solidFill>
              </a:rPr>
              <a:t>NULL</a:t>
            </a:r>
            <a:r>
              <a:rPr dirty="0" spc="90">
                <a:solidFill>
                  <a:srgbClr val="D25F0F"/>
                </a:solidFill>
                <a:latin typeface="Arial"/>
                <a:cs typeface="Arial"/>
              </a:rPr>
              <a:t> </a:t>
            </a:r>
            <a:r>
              <a:rPr dirty="0" spc="-25"/>
              <a:t>for</a:t>
            </a:r>
            <a:r>
              <a:rPr dirty="0" spc="-25">
                <a:latin typeface="Arial"/>
                <a:cs typeface="Arial"/>
              </a:rPr>
              <a:t> </a:t>
            </a:r>
            <a:r>
              <a:rPr dirty="0"/>
              <a:t>easier</a:t>
            </a:r>
            <a:r>
              <a:rPr dirty="0" spc="229">
                <a:latin typeface="Arial"/>
                <a:cs typeface="Arial"/>
              </a:rPr>
              <a:t> </a:t>
            </a:r>
            <a:r>
              <a:rPr dirty="0"/>
              <a:t>processing</a:t>
            </a:r>
            <a:r>
              <a:rPr dirty="0" spc="235">
                <a:latin typeface="Arial"/>
                <a:cs typeface="Arial"/>
              </a:rPr>
              <a:t> </a:t>
            </a:r>
            <a:r>
              <a:rPr dirty="0"/>
              <a:t>and</a:t>
            </a:r>
            <a:r>
              <a:rPr dirty="0" spc="229">
                <a:latin typeface="Arial"/>
                <a:cs typeface="Arial"/>
              </a:rPr>
              <a:t> </a:t>
            </a:r>
            <a:r>
              <a:rPr dirty="0"/>
              <a:t>consistent</a:t>
            </a:r>
            <a:r>
              <a:rPr dirty="0" spc="245">
                <a:latin typeface="Arial"/>
                <a:cs typeface="Arial"/>
              </a:rPr>
              <a:t> </a:t>
            </a:r>
            <a:r>
              <a:rPr dirty="0" spc="35"/>
              <a:t>handling.</a:t>
            </a:r>
          </a:p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dirty="0" sz="2000" spc="60">
                <a:solidFill>
                  <a:srgbClr val="2C3F41"/>
                </a:solidFill>
              </a:rPr>
              <a:t>Converting</a:t>
            </a:r>
            <a:r>
              <a:rPr dirty="0" sz="2000" spc="85">
                <a:solidFill>
                  <a:srgbClr val="2C3F41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C3F41"/>
                </a:solidFill>
              </a:rPr>
              <a:t>Blanks</a:t>
            </a:r>
            <a:r>
              <a:rPr dirty="0" sz="2000" spc="90">
                <a:solidFill>
                  <a:srgbClr val="2C3F41"/>
                </a:solidFill>
                <a:latin typeface="Arial"/>
                <a:cs typeface="Arial"/>
              </a:rPr>
              <a:t> </a:t>
            </a:r>
            <a:r>
              <a:rPr dirty="0" sz="2000" spc="125">
                <a:solidFill>
                  <a:srgbClr val="2C3F41"/>
                </a:solidFill>
              </a:rPr>
              <a:t>to</a:t>
            </a:r>
            <a:r>
              <a:rPr dirty="0" sz="2000" spc="90">
                <a:solidFill>
                  <a:srgbClr val="2C3F41"/>
                </a:solidFill>
                <a:latin typeface="Arial"/>
                <a:cs typeface="Arial"/>
              </a:rPr>
              <a:t> </a:t>
            </a:r>
            <a:r>
              <a:rPr dirty="0" sz="2000" spc="40">
                <a:solidFill>
                  <a:srgbClr val="2C3F41"/>
                </a:solidFill>
              </a:rPr>
              <a:t>Nulls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450"/>
          </a:p>
          <a:p>
            <a:pPr marL="176530" marR="3026410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DejaVu Sans Mono"/>
                <a:cs typeface="DejaVu Sans Mono"/>
              </a:rPr>
              <a:t>U</a:t>
            </a:r>
            <a:r>
              <a:rPr dirty="0" spc="-170">
                <a:latin typeface="Arial"/>
                <a:cs typeface="Arial"/>
              </a:rPr>
              <a:t> </a:t>
            </a:r>
            <a:r>
              <a:rPr dirty="0" spc="-10">
                <a:latin typeface="DejaVu Sans Mono"/>
                <a:cs typeface="DejaVu Sans Mono"/>
              </a:rPr>
              <a:t>PD</a:t>
            </a:r>
            <a:r>
              <a:rPr dirty="0" spc="-195">
                <a:latin typeface="Arial"/>
                <a:cs typeface="Arial"/>
              </a:rPr>
              <a:t> </a:t>
            </a:r>
            <a:r>
              <a:rPr dirty="0" spc="-45">
                <a:latin typeface="DejaVu Sans Mono"/>
                <a:cs typeface="DejaVu Sans Mono"/>
              </a:rPr>
              <a:t>ATE</a:t>
            </a:r>
            <a:r>
              <a:rPr dirty="0" spc="-45">
                <a:latin typeface="Arial"/>
                <a:cs typeface="Arial"/>
              </a:rPr>
              <a:t> </a:t>
            </a:r>
            <a:r>
              <a:rPr dirty="0">
                <a:latin typeface="DejaVu Sans Mono"/>
                <a:cs typeface="DejaVu Sans Mono"/>
              </a:rPr>
              <a:t>w</a:t>
            </a:r>
            <a:r>
              <a:rPr dirty="0" spc="-80">
                <a:latin typeface="Arial"/>
                <a:cs typeface="Arial"/>
              </a:rPr>
              <a:t> </a:t>
            </a:r>
            <a:r>
              <a:rPr dirty="0" spc="-210">
                <a:latin typeface="DejaVu Sans Mono"/>
                <a:cs typeface="DejaVu Sans Mono"/>
              </a:rPr>
              <a:t>orld_layoffs.layoffs_staging2</a:t>
            </a:r>
            <a:r>
              <a:rPr dirty="0" spc="-55">
                <a:latin typeface="Arial"/>
                <a:cs typeface="Arial"/>
              </a:rPr>
              <a:t> </a:t>
            </a:r>
            <a:r>
              <a:rPr dirty="0" spc="-55">
                <a:latin typeface="DejaVu Sans Mono"/>
                <a:cs typeface="DejaVu Sans Mono"/>
              </a:rPr>
              <a:t>SET</a:t>
            </a:r>
            <a:r>
              <a:rPr dirty="0" spc="-50">
                <a:latin typeface="Arial"/>
                <a:cs typeface="Arial"/>
              </a:rPr>
              <a:t> </a:t>
            </a:r>
            <a:r>
              <a:rPr dirty="0" spc="-155">
                <a:latin typeface="DejaVu Sans Mono"/>
                <a:cs typeface="DejaVu Sans Mono"/>
              </a:rPr>
              <a:t>industry</a:t>
            </a:r>
            <a:r>
              <a:rPr dirty="0" spc="-110">
                <a:latin typeface="Arial"/>
                <a:cs typeface="Arial"/>
              </a:rPr>
              <a:t> </a:t>
            </a:r>
            <a:r>
              <a:rPr dirty="0">
                <a:latin typeface="DejaVu Sans Mono"/>
                <a:cs typeface="DejaVu Sans Mono"/>
              </a:rPr>
              <a:t>=</a:t>
            </a:r>
            <a:r>
              <a:rPr dirty="0" spc="-20">
                <a:latin typeface="Arial"/>
                <a:cs typeface="Arial"/>
              </a:rPr>
              <a:t> </a:t>
            </a:r>
            <a:r>
              <a:rPr dirty="0">
                <a:latin typeface="DejaVu Sans Mono"/>
                <a:cs typeface="DejaVu Sans Mono"/>
              </a:rPr>
              <a:t>N</a:t>
            </a:r>
            <a:r>
              <a:rPr dirty="0" spc="-120">
                <a:latin typeface="Arial"/>
                <a:cs typeface="Arial"/>
              </a:rPr>
              <a:t> </a:t>
            </a:r>
            <a:r>
              <a:rPr dirty="0">
                <a:latin typeface="DejaVu Sans Mono"/>
                <a:cs typeface="DejaVu Sans Mono"/>
              </a:rPr>
              <a:t>U</a:t>
            </a:r>
            <a:r>
              <a:rPr dirty="0" spc="-160">
                <a:latin typeface="Arial"/>
                <a:cs typeface="Arial"/>
              </a:rPr>
              <a:t> </a:t>
            </a:r>
            <a:r>
              <a:rPr dirty="0" spc="-25">
                <a:latin typeface="DejaVu Sans Mono"/>
                <a:cs typeface="DejaVu Sans Mono"/>
              </a:rPr>
              <a:t>LL</a:t>
            </a:r>
          </a:p>
          <a:p>
            <a:pPr marL="176530">
              <a:lnSpc>
                <a:spcPts val="1614"/>
              </a:lnSpc>
            </a:pPr>
            <a:r>
              <a:rPr dirty="0">
                <a:latin typeface="DejaVu Sans Mono"/>
                <a:cs typeface="DejaVu Sans Mono"/>
              </a:rPr>
              <a:t>W</a:t>
            </a:r>
            <a:r>
              <a:rPr dirty="0" spc="100">
                <a:latin typeface="Arial"/>
                <a:cs typeface="Arial"/>
              </a:rPr>
              <a:t> </a:t>
            </a:r>
            <a:r>
              <a:rPr dirty="0">
                <a:latin typeface="DejaVu Sans Mono"/>
                <a:cs typeface="DejaVu Sans Mono"/>
              </a:rPr>
              <a:t>H</a:t>
            </a:r>
            <a:r>
              <a:rPr dirty="0" spc="-150">
                <a:latin typeface="Arial"/>
                <a:cs typeface="Arial"/>
              </a:rPr>
              <a:t> </a:t>
            </a:r>
            <a:r>
              <a:rPr dirty="0" spc="-10">
                <a:latin typeface="DejaVu Sans Mono"/>
                <a:cs typeface="DejaVu Sans Mono"/>
              </a:rPr>
              <a:t>ERE</a:t>
            </a:r>
            <a:r>
              <a:rPr dirty="0" spc="-50">
                <a:latin typeface="Arial"/>
                <a:cs typeface="Arial"/>
              </a:rPr>
              <a:t> </a:t>
            </a:r>
            <a:r>
              <a:rPr dirty="0" spc="-155">
                <a:latin typeface="DejaVu Sans Mono"/>
                <a:cs typeface="DejaVu Sans Mono"/>
              </a:rPr>
              <a:t>industry</a:t>
            </a:r>
            <a:r>
              <a:rPr dirty="0" spc="-114">
                <a:latin typeface="Arial"/>
                <a:cs typeface="Arial"/>
              </a:rPr>
              <a:t> </a:t>
            </a:r>
            <a:r>
              <a:rPr dirty="0">
                <a:latin typeface="DejaVu Sans Mono"/>
                <a:cs typeface="DejaVu Sans Mono"/>
              </a:rPr>
              <a:t>=</a:t>
            </a:r>
            <a:r>
              <a:rPr dirty="0" spc="320">
                <a:latin typeface="Arial"/>
                <a:cs typeface="Arial"/>
              </a:rPr>
              <a:t> </a:t>
            </a:r>
            <a:r>
              <a:rPr dirty="0" spc="-535" b="1">
                <a:latin typeface="DejaVu Sans Mono"/>
                <a:cs typeface="DejaVu Sans Mono"/>
              </a:rPr>
              <a:t>'</a:t>
            </a:r>
            <a:r>
              <a:rPr dirty="0" spc="-25">
                <a:latin typeface="DejaVu Sans Mono"/>
                <a:cs typeface="DejaVu Sans Mono"/>
              </a:rPr>
              <a:t>;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7524725" y="5367235"/>
            <a:ext cx="6517640" cy="2193925"/>
          </a:xfrm>
          <a:custGeom>
            <a:avLst/>
            <a:gdLst/>
            <a:ahLst/>
            <a:cxnLst/>
            <a:rect l="l" t="t" r="r" b="b"/>
            <a:pathLst>
              <a:path w="6517640" h="2193925">
                <a:moveTo>
                  <a:pt x="6517411" y="2172601"/>
                </a:moveTo>
                <a:lnTo>
                  <a:pt x="6517322" y="21247"/>
                </a:lnTo>
                <a:lnTo>
                  <a:pt x="6516395" y="17284"/>
                </a:lnTo>
                <a:lnTo>
                  <a:pt x="6513855" y="13322"/>
                </a:lnTo>
                <a:lnTo>
                  <a:pt x="6511696" y="9359"/>
                </a:lnTo>
                <a:lnTo>
                  <a:pt x="6508394" y="6121"/>
                </a:lnTo>
                <a:lnTo>
                  <a:pt x="6504457" y="3962"/>
                </a:lnTo>
                <a:lnTo>
                  <a:pt x="6500520" y="1447"/>
                </a:lnTo>
                <a:lnTo>
                  <a:pt x="6496202" y="368"/>
                </a:lnTo>
                <a:lnTo>
                  <a:pt x="6436131" y="368"/>
                </a:lnTo>
                <a:lnTo>
                  <a:pt x="3260255" y="190"/>
                </a:lnTo>
                <a:lnTo>
                  <a:pt x="81711" y="0"/>
                </a:lnTo>
                <a:lnTo>
                  <a:pt x="21590" y="0"/>
                </a:lnTo>
                <a:lnTo>
                  <a:pt x="17272" y="1079"/>
                </a:lnTo>
                <a:lnTo>
                  <a:pt x="13309" y="3606"/>
                </a:lnTo>
                <a:lnTo>
                  <a:pt x="9359" y="5765"/>
                </a:lnTo>
                <a:lnTo>
                  <a:pt x="6121" y="9004"/>
                </a:lnTo>
                <a:lnTo>
                  <a:pt x="3949" y="12966"/>
                </a:lnTo>
                <a:lnTo>
                  <a:pt x="1435" y="16929"/>
                </a:lnTo>
                <a:lnTo>
                  <a:pt x="355" y="21247"/>
                </a:lnTo>
                <a:lnTo>
                  <a:pt x="0" y="2172601"/>
                </a:lnTo>
                <a:lnTo>
                  <a:pt x="1079" y="2176932"/>
                </a:lnTo>
                <a:lnTo>
                  <a:pt x="3594" y="2180882"/>
                </a:lnTo>
                <a:lnTo>
                  <a:pt x="5753" y="2184844"/>
                </a:lnTo>
                <a:lnTo>
                  <a:pt x="8991" y="2188083"/>
                </a:lnTo>
                <a:lnTo>
                  <a:pt x="12954" y="2190242"/>
                </a:lnTo>
                <a:lnTo>
                  <a:pt x="16916" y="2192782"/>
                </a:lnTo>
                <a:lnTo>
                  <a:pt x="21234" y="2193848"/>
                </a:lnTo>
                <a:lnTo>
                  <a:pt x="81356" y="2193848"/>
                </a:lnTo>
                <a:lnTo>
                  <a:pt x="6436131" y="2193848"/>
                </a:lnTo>
                <a:lnTo>
                  <a:pt x="6496202" y="2193848"/>
                </a:lnTo>
                <a:lnTo>
                  <a:pt x="6500520" y="2192782"/>
                </a:lnTo>
                <a:lnTo>
                  <a:pt x="6504457" y="2190242"/>
                </a:lnTo>
                <a:lnTo>
                  <a:pt x="6508394" y="2188083"/>
                </a:lnTo>
                <a:lnTo>
                  <a:pt x="6511696" y="2184844"/>
                </a:lnTo>
                <a:lnTo>
                  <a:pt x="6513855" y="2180882"/>
                </a:lnTo>
                <a:lnTo>
                  <a:pt x="6516395" y="2176932"/>
                </a:lnTo>
                <a:lnTo>
                  <a:pt x="6517411" y="2172601"/>
                </a:lnTo>
                <a:close/>
              </a:path>
            </a:pathLst>
          </a:custGeom>
          <a:solidFill>
            <a:srgbClr val="F2EB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7520660" y="4111161"/>
            <a:ext cx="6163945" cy="2632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600"/>
              </a:lnSpc>
              <a:spcBef>
                <a:spcPts val="100"/>
              </a:spcBef>
            </a:pPr>
            <a:r>
              <a:rPr dirty="0" sz="1350">
                <a:solidFill>
                  <a:srgbClr val="2B2E3C"/>
                </a:solidFill>
                <a:latin typeface="Arial Unicode MS"/>
                <a:cs typeface="Arial Unicode MS"/>
              </a:rPr>
              <a:t>For</a:t>
            </a:r>
            <a:r>
              <a:rPr dirty="0" sz="1350" spc="9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Arial Unicode MS"/>
                <a:cs typeface="Arial Unicode MS"/>
              </a:rPr>
              <a:t>fields</a:t>
            </a:r>
            <a:r>
              <a:rPr dirty="0" sz="1350" spc="9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Arial Unicode MS"/>
                <a:cs typeface="Arial Unicode MS"/>
              </a:rPr>
              <a:t>where</a:t>
            </a:r>
            <a:r>
              <a:rPr dirty="0" sz="1350" spc="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Arial Unicode MS"/>
                <a:cs typeface="Arial Unicode MS"/>
              </a:rPr>
              <a:t>a</a:t>
            </a:r>
            <a:r>
              <a:rPr dirty="0" sz="1350" spc="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Arial Unicode MS"/>
                <a:cs typeface="Arial Unicode MS"/>
              </a:rPr>
              <a:t>valid</a:t>
            </a:r>
            <a:r>
              <a:rPr dirty="0" sz="1350" spc="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Arial Unicode MS"/>
                <a:cs typeface="Arial Unicode MS"/>
              </a:rPr>
              <a:t>value</a:t>
            </a:r>
            <a:r>
              <a:rPr dirty="0" sz="1350" spc="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Arial Unicode MS"/>
                <a:cs typeface="Arial Unicode MS"/>
              </a:rPr>
              <a:t>exists</a:t>
            </a:r>
            <a:r>
              <a:rPr dirty="0" sz="1350" spc="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80">
                <a:solidFill>
                  <a:srgbClr val="2B2E3C"/>
                </a:solidFill>
                <a:latin typeface="Arial Unicode MS"/>
                <a:cs typeface="Arial Unicode MS"/>
              </a:rPr>
              <a:t>for</a:t>
            </a:r>
            <a:r>
              <a:rPr dirty="0" sz="1350" spc="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65">
                <a:solidFill>
                  <a:srgbClr val="2B2E3C"/>
                </a:solidFill>
                <a:latin typeface="Arial Unicode MS"/>
                <a:cs typeface="Arial Unicode MS"/>
              </a:rPr>
              <a:t>other</a:t>
            </a:r>
            <a:r>
              <a:rPr dirty="0" sz="1350" spc="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Arial Unicode MS"/>
                <a:cs typeface="Arial Unicode MS"/>
              </a:rPr>
              <a:t>records</a:t>
            </a:r>
            <a:r>
              <a:rPr dirty="0" sz="1350" spc="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2B2E3C"/>
                </a:solidFill>
                <a:latin typeface="Arial Unicode MS"/>
                <a:cs typeface="Arial Unicode MS"/>
              </a:rPr>
              <a:t>of</a:t>
            </a:r>
            <a:r>
              <a:rPr dirty="0" sz="1350" spc="9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60">
                <a:solidFill>
                  <a:srgbClr val="2B2E3C"/>
                </a:solidFill>
                <a:latin typeface="Arial Unicode MS"/>
                <a:cs typeface="Arial Unicode MS"/>
              </a:rPr>
              <a:t>the</a:t>
            </a:r>
            <a:r>
              <a:rPr dirty="0" sz="1350" spc="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Arial Unicode MS"/>
                <a:cs typeface="Arial Unicode MS"/>
              </a:rPr>
              <a:t>same</a:t>
            </a:r>
            <a:r>
              <a:rPr dirty="0" sz="1350" spc="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2B2E3C"/>
                </a:solidFill>
                <a:latin typeface="Arial Unicode MS"/>
                <a:cs typeface="Arial Unicode MS"/>
              </a:rPr>
              <a:t>entity</a:t>
            </a:r>
            <a:r>
              <a:rPr dirty="0" sz="1350" spc="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50">
                <a:solidFill>
                  <a:srgbClr val="2B2E3C"/>
                </a:solidFill>
                <a:latin typeface="Arial Unicode MS"/>
                <a:cs typeface="Arial Unicode MS"/>
              </a:rPr>
              <a:t>(e.g.,</a:t>
            </a:r>
            <a:r>
              <a:rPr dirty="0" sz="1350" spc="-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Arial Unicode MS"/>
                <a:cs typeface="Arial Unicode MS"/>
              </a:rPr>
              <a:t>company),</a:t>
            </a:r>
            <a:r>
              <a:rPr dirty="0" sz="1350" spc="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Arial Unicode MS"/>
                <a:cs typeface="Arial Unicode MS"/>
              </a:rPr>
              <a:t>you</a:t>
            </a:r>
            <a:r>
              <a:rPr dirty="0" sz="1350" spc="11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Arial Unicode MS"/>
                <a:cs typeface="Arial Unicode MS"/>
              </a:rPr>
              <a:t>can</a:t>
            </a:r>
            <a:r>
              <a:rPr dirty="0" sz="1350" spc="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2B2E3C"/>
                </a:solidFill>
                <a:latin typeface="Arial Unicode MS"/>
                <a:cs typeface="Arial Unicode MS"/>
              </a:rPr>
              <a:t>impute</a:t>
            </a:r>
            <a:r>
              <a:rPr dirty="0" sz="1350" spc="11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Arial Unicode MS"/>
                <a:cs typeface="Arial Unicode MS"/>
              </a:rPr>
              <a:t>missing</a:t>
            </a:r>
            <a:r>
              <a:rPr dirty="0" sz="1350" spc="11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Arial Unicode MS"/>
                <a:cs typeface="Arial Unicode MS"/>
              </a:rPr>
              <a:t>values</a:t>
            </a:r>
            <a:r>
              <a:rPr dirty="0" sz="1350" spc="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Arial Unicode MS"/>
                <a:cs typeface="Arial Unicode MS"/>
              </a:rPr>
              <a:t>by</a:t>
            </a:r>
            <a:r>
              <a:rPr dirty="0" sz="1350" spc="11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2B2E3C"/>
                </a:solidFill>
                <a:latin typeface="Arial Unicode MS"/>
                <a:cs typeface="Arial Unicode MS"/>
              </a:rPr>
              <a:t>joining</a:t>
            </a:r>
            <a:r>
              <a:rPr dirty="0" sz="1350" spc="11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60">
                <a:solidFill>
                  <a:srgbClr val="2B2E3C"/>
                </a:solidFill>
                <a:latin typeface="Arial Unicode MS"/>
                <a:cs typeface="Arial Unicode MS"/>
              </a:rPr>
              <a:t>the</a:t>
            </a:r>
            <a:r>
              <a:rPr dirty="0" sz="1350" spc="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Arial Unicode MS"/>
                <a:cs typeface="Arial Unicode MS"/>
              </a:rPr>
              <a:t>table</a:t>
            </a:r>
            <a:r>
              <a:rPr dirty="0" sz="1350" spc="11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80">
                <a:solidFill>
                  <a:srgbClr val="2B2E3C"/>
                </a:solidFill>
                <a:latin typeface="Arial Unicode MS"/>
                <a:cs typeface="Arial Unicode MS"/>
              </a:rPr>
              <a:t>to</a:t>
            </a:r>
            <a:r>
              <a:rPr dirty="0" sz="1350" spc="11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B2E3C"/>
                </a:solidFill>
                <a:latin typeface="Arial Unicode MS"/>
                <a:cs typeface="Arial Unicode MS"/>
              </a:rPr>
              <a:t>itself.</a:t>
            </a:r>
            <a:endParaRPr sz="13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000" spc="120">
                <a:solidFill>
                  <a:srgbClr val="2C3F41"/>
                </a:solidFill>
                <a:latin typeface="Arial Unicode MS"/>
                <a:cs typeface="Arial Unicode MS"/>
              </a:rPr>
              <a:t>Imputing</a:t>
            </a:r>
            <a:r>
              <a:rPr dirty="0" sz="2000" spc="35">
                <a:solidFill>
                  <a:srgbClr val="2C3F41"/>
                </a:solidFill>
                <a:latin typeface="Arial"/>
                <a:cs typeface="Arial"/>
              </a:rPr>
              <a:t> </a:t>
            </a:r>
            <a:r>
              <a:rPr dirty="0" sz="2000" spc="55">
                <a:solidFill>
                  <a:srgbClr val="2C3F41"/>
                </a:solidFill>
                <a:latin typeface="Arial Unicode MS"/>
                <a:cs typeface="Arial Unicode MS"/>
              </a:rPr>
              <a:t>Missing</a:t>
            </a:r>
            <a:r>
              <a:rPr dirty="0" sz="2000" spc="35">
                <a:solidFill>
                  <a:srgbClr val="2C3F41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C3F41"/>
                </a:solidFill>
                <a:latin typeface="Arial Unicode MS"/>
                <a:cs typeface="Arial Unicode MS"/>
              </a:rPr>
              <a:t>Values</a:t>
            </a:r>
            <a:endParaRPr sz="2000">
              <a:latin typeface="Arial Unicode MS"/>
              <a:cs typeface="Arial Unicode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Arial Unicode MS"/>
              <a:cs typeface="Arial Unicode MS"/>
            </a:endParaRPr>
          </a:p>
          <a:p>
            <a:pPr marL="177165" marR="3789679">
              <a:lnSpc>
                <a:spcPct val="100000"/>
              </a:lnSpc>
            </a:pPr>
            <a:r>
              <a:rPr dirty="0" sz="1350">
                <a:solidFill>
                  <a:srgbClr val="2B2E3C"/>
                </a:solidFill>
                <a:latin typeface="DejaVu Sans Mono"/>
                <a:cs typeface="DejaVu Sans Mono"/>
              </a:rPr>
              <a:t>U</a:t>
            </a:r>
            <a:r>
              <a:rPr dirty="0" sz="1350" spc="-16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B2E3C"/>
                </a:solidFill>
                <a:latin typeface="DejaVu Sans Mono"/>
                <a:cs typeface="DejaVu Sans Mono"/>
              </a:rPr>
              <a:t>PD</a:t>
            </a:r>
            <a:r>
              <a:rPr dirty="0" sz="1350" spc="-1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45">
                <a:solidFill>
                  <a:srgbClr val="2B2E3C"/>
                </a:solidFill>
                <a:latin typeface="DejaVu Sans Mono"/>
                <a:cs typeface="DejaVu Sans Mono"/>
              </a:rPr>
              <a:t>ATE</a:t>
            </a:r>
            <a:r>
              <a:rPr dirty="0" sz="1350" spc="-3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175">
                <a:solidFill>
                  <a:srgbClr val="2B2E3C"/>
                </a:solidFill>
                <a:latin typeface="DejaVu Sans Mono"/>
                <a:cs typeface="DejaVu Sans Mono"/>
              </a:rPr>
              <a:t>layoffs_staging2</a:t>
            </a:r>
            <a:r>
              <a:rPr dirty="0" sz="1350" spc="-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245">
                <a:solidFill>
                  <a:srgbClr val="2B2E3C"/>
                </a:solidFill>
                <a:latin typeface="DejaVu Sans Mono"/>
                <a:cs typeface="DejaVu Sans Mono"/>
              </a:rPr>
              <a:t>t1</a:t>
            </a:r>
            <a:r>
              <a:rPr dirty="0" sz="1350" spc="5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225">
                <a:solidFill>
                  <a:srgbClr val="2B2E3C"/>
                </a:solidFill>
                <a:latin typeface="DejaVu Sans Mono"/>
                <a:cs typeface="DejaVu Sans Mono"/>
              </a:rPr>
              <a:t>JO</a:t>
            </a:r>
            <a:r>
              <a:rPr dirty="0" sz="1350" spc="-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75">
                <a:solidFill>
                  <a:srgbClr val="2B2E3C"/>
                </a:solidFill>
                <a:latin typeface="DejaVu Sans Mono"/>
                <a:cs typeface="DejaVu Sans Mono"/>
              </a:rPr>
              <a:t>IN</a:t>
            </a:r>
            <a:r>
              <a:rPr dirty="0" sz="1350" spc="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175">
                <a:solidFill>
                  <a:srgbClr val="2B2E3C"/>
                </a:solidFill>
                <a:latin typeface="DejaVu Sans Mono"/>
                <a:cs typeface="DejaVu Sans Mono"/>
              </a:rPr>
              <a:t>layoffs_staging2</a:t>
            </a:r>
            <a:r>
              <a:rPr dirty="0" sz="1350" spc="-3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2B2E3C"/>
                </a:solidFill>
                <a:latin typeface="DejaVu Sans Mono"/>
                <a:cs typeface="DejaVu Sans Mono"/>
              </a:rPr>
              <a:t>t2</a:t>
            </a:r>
            <a:endParaRPr sz="1350">
              <a:latin typeface="DejaVu Sans Mono"/>
              <a:cs typeface="DejaVu Sans Mono"/>
            </a:endParaRPr>
          </a:p>
          <a:p>
            <a:pPr marL="177165" marR="3533775" indent="43815">
              <a:lnSpc>
                <a:spcPts val="1620"/>
              </a:lnSpc>
              <a:spcBef>
                <a:spcPts val="50"/>
              </a:spcBef>
            </a:pPr>
            <a:r>
              <a:rPr dirty="0" sz="1350">
                <a:solidFill>
                  <a:srgbClr val="2B2E3C"/>
                </a:solidFill>
                <a:latin typeface="DejaVu Sans Mono"/>
                <a:cs typeface="DejaVu Sans Mono"/>
              </a:rPr>
              <a:t>O</a:t>
            </a:r>
            <a:r>
              <a:rPr dirty="0" sz="1350" spc="-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DejaVu Sans Mono"/>
                <a:cs typeface="DejaVu Sans Mono"/>
              </a:rPr>
              <a:t>N</a:t>
            </a:r>
            <a:r>
              <a:rPr dirty="0" sz="1350" spc="2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165">
                <a:solidFill>
                  <a:srgbClr val="2B2E3C"/>
                </a:solidFill>
                <a:latin typeface="DejaVu Sans Mono"/>
                <a:cs typeface="DejaVu Sans Mono"/>
              </a:rPr>
              <a:t>t1.com</a:t>
            </a:r>
            <a:r>
              <a:rPr dirty="0" sz="1350" spc="9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B2E3C"/>
                </a:solidFill>
                <a:latin typeface="DejaVu Sans Mono"/>
                <a:cs typeface="DejaVu Sans Mono"/>
              </a:rPr>
              <a:t>pany</a:t>
            </a:r>
            <a:r>
              <a:rPr dirty="0" sz="1350" spc="-114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DejaVu Sans Mono"/>
                <a:cs typeface="DejaVu Sans Mono"/>
              </a:rPr>
              <a:t>=</a:t>
            </a:r>
            <a:r>
              <a:rPr dirty="0" sz="1350" spc="-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165">
                <a:solidFill>
                  <a:srgbClr val="2B2E3C"/>
                </a:solidFill>
                <a:latin typeface="DejaVu Sans Mono"/>
                <a:cs typeface="DejaVu Sans Mono"/>
              </a:rPr>
              <a:t>t2.com</a:t>
            </a:r>
            <a:r>
              <a:rPr dirty="0" sz="13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65">
                <a:solidFill>
                  <a:srgbClr val="2B2E3C"/>
                </a:solidFill>
                <a:latin typeface="DejaVu Sans Mono"/>
                <a:cs typeface="DejaVu Sans Mono"/>
              </a:rPr>
              <a:t>pany</a:t>
            </a:r>
            <a:r>
              <a:rPr dirty="0" sz="1350" spc="-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55">
                <a:solidFill>
                  <a:srgbClr val="2B2E3C"/>
                </a:solidFill>
                <a:latin typeface="DejaVu Sans Mono"/>
                <a:cs typeface="DejaVu Sans Mono"/>
              </a:rPr>
              <a:t>SET</a:t>
            </a:r>
            <a:r>
              <a:rPr dirty="0" sz="1350" spc="-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190">
                <a:solidFill>
                  <a:srgbClr val="2B2E3C"/>
                </a:solidFill>
                <a:latin typeface="DejaVu Sans Mono"/>
                <a:cs typeface="DejaVu Sans Mono"/>
              </a:rPr>
              <a:t>t1.industry</a:t>
            </a:r>
            <a:r>
              <a:rPr dirty="0" sz="1350" spc="-9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DejaVu Sans Mono"/>
                <a:cs typeface="DejaVu Sans Mono"/>
              </a:rPr>
              <a:t>=</a:t>
            </a:r>
            <a:r>
              <a:rPr dirty="0" sz="13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105">
                <a:solidFill>
                  <a:srgbClr val="2B2E3C"/>
                </a:solidFill>
                <a:latin typeface="DejaVu Sans Mono"/>
                <a:cs typeface="DejaVu Sans Mono"/>
              </a:rPr>
              <a:t>t2.industry</a:t>
            </a:r>
            <a:r>
              <a:rPr dirty="0" sz="1350" spc="-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DejaVu Sans Mono"/>
                <a:cs typeface="DejaVu Sans Mono"/>
              </a:rPr>
              <a:t>W</a:t>
            </a:r>
            <a:r>
              <a:rPr dirty="0" sz="1350" spc="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DejaVu Sans Mono"/>
                <a:cs typeface="DejaVu Sans Mono"/>
              </a:rPr>
              <a:t>H</a:t>
            </a:r>
            <a:r>
              <a:rPr dirty="0" sz="1350" spc="-1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B2E3C"/>
                </a:solidFill>
                <a:latin typeface="DejaVu Sans Mono"/>
                <a:cs typeface="DejaVu Sans Mono"/>
              </a:rPr>
              <a:t>ERE</a:t>
            </a:r>
            <a:r>
              <a:rPr dirty="0" sz="1350" spc="-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190">
                <a:solidFill>
                  <a:srgbClr val="2B2E3C"/>
                </a:solidFill>
                <a:latin typeface="DejaVu Sans Mono"/>
                <a:cs typeface="DejaVu Sans Mono"/>
              </a:rPr>
              <a:t>t1.industry</a:t>
            </a:r>
            <a:r>
              <a:rPr dirty="0" sz="1350" spc="-114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180">
                <a:solidFill>
                  <a:srgbClr val="2B2E3C"/>
                </a:solidFill>
                <a:latin typeface="DejaVu Sans Mono"/>
                <a:cs typeface="DejaVu Sans Mono"/>
              </a:rPr>
              <a:t>IS</a:t>
            </a:r>
            <a:r>
              <a:rPr dirty="0" sz="1350" spc="-6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DejaVu Sans Mono"/>
                <a:cs typeface="DejaVu Sans Mono"/>
              </a:rPr>
              <a:t>N</a:t>
            </a:r>
            <a:r>
              <a:rPr dirty="0" sz="1350" spc="-13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DejaVu Sans Mono"/>
                <a:cs typeface="DejaVu Sans Mono"/>
              </a:rPr>
              <a:t>U</a:t>
            </a:r>
            <a:r>
              <a:rPr dirty="0" sz="1350" spc="-16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25">
                <a:solidFill>
                  <a:srgbClr val="2B2E3C"/>
                </a:solidFill>
                <a:latin typeface="DejaVu Sans Mono"/>
                <a:cs typeface="DejaVu Sans Mono"/>
              </a:rPr>
              <a:t>LL</a:t>
            </a:r>
            <a:r>
              <a:rPr dirty="0" sz="1350" spc="5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DejaVu Sans Mono"/>
                <a:cs typeface="DejaVu Sans Mono"/>
              </a:rPr>
              <a:t>AN</a:t>
            </a:r>
            <a:r>
              <a:rPr dirty="0" sz="1350" spc="-12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DejaVu Sans Mono"/>
                <a:cs typeface="DejaVu Sans Mono"/>
              </a:rPr>
              <a:t>D</a:t>
            </a:r>
            <a:r>
              <a:rPr dirty="0" sz="1350" spc="23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190">
                <a:solidFill>
                  <a:srgbClr val="2B2E3C"/>
                </a:solidFill>
                <a:latin typeface="DejaVu Sans Mono"/>
                <a:cs typeface="DejaVu Sans Mono"/>
              </a:rPr>
              <a:t>t2.industry</a:t>
            </a:r>
            <a:r>
              <a:rPr dirty="0" sz="1350" spc="-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180">
                <a:solidFill>
                  <a:srgbClr val="2B2E3C"/>
                </a:solidFill>
                <a:latin typeface="DejaVu Sans Mono"/>
                <a:cs typeface="DejaVu Sans Mono"/>
              </a:rPr>
              <a:t>IS</a:t>
            </a:r>
            <a:r>
              <a:rPr dirty="0" sz="1350" spc="-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DejaVu Sans Mono"/>
                <a:cs typeface="DejaVu Sans Mono"/>
              </a:rPr>
              <a:t>N</a:t>
            </a:r>
            <a:r>
              <a:rPr dirty="0" sz="1350" spc="-12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DejaVu Sans Mono"/>
                <a:cs typeface="DejaVu Sans Mono"/>
              </a:rPr>
              <a:t>O</a:t>
            </a:r>
            <a:r>
              <a:rPr dirty="0" sz="1350" spc="-13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DejaVu Sans Mono"/>
                <a:cs typeface="DejaVu Sans Mono"/>
              </a:rPr>
              <a:t>T</a:t>
            </a:r>
            <a:r>
              <a:rPr dirty="0" sz="1350" spc="-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DejaVu Sans Mono"/>
                <a:cs typeface="DejaVu Sans Mono"/>
              </a:rPr>
              <a:t>N</a:t>
            </a:r>
            <a:r>
              <a:rPr dirty="0" sz="1350" spc="-12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B2E3C"/>
                </a:solidFill>
                <a:latin typeface="DejaVu Sans Mono"/>
                <a:cs typeface="DejaVu Sans Mono"/>
              </a:rPr>
              <a:t>U</a:t>
            </a:r>
            <a:r>
              <a:rPr dirty="0" sz="1350" spc="-1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350" spc="-204">
                <a:solidFill>
                  <a:srgbClr val="2B2E3C"/>
                </a:solidFill>
                <a:latin typeface="DejaVu Sans Mono"/>
                <a:cs typeface="DejaVu Sans Mono"/>
              </a:rPr>
              <a:t>LL;</a:t>
            </a:r>
            <a:endParaRPr sz="1350">
              <a:latin typeface="DejaVu Sans Mono"/>
              <a:cs typeface="DejaVu Sans Mono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2821284" y="7818623"/>
            <a:ext cx="1686560" cy="274320"/>
          </a:xfrm>
          <a:custGeom>
            <a:avLst/>
            <a:gdLst/>
            <a:ahLst/>
            <a:cxnLst/>
            <a:rect l="l" t="t" r="r" b="b"/>
            <a:pathLst>
              <a:path w="1686559" h="274320">
                <a:moveTo>
                  <a:pt x="274142" y="0"/>
                </a:moveTo>
                <a:lnTo>
                  <a:pt x="0" y="0"/>
                </a:lnTo>
                <a:lnTo>
                  <a:pt x="0" y="274142"/>
                </a:lnTo>
                <a:lnTo>
                  <a:pt x="274142" y="0"/>
                </a:lnTo>
                <a:close/>
              </a:path>
              <a:path w="1686559" h="274320">
                <a:moveTo>
                  <a:pt x="274142" y="0"/>
                </a:moveTo>
                <a:lnTo>
                  <a:pt x="0" y="274142"/>
                </a:lnTo>
                <a:lnTo>
                  <a:pt x="274142" y="274142"/>
                </a:lnTo>
                <a:lnTo>
                  <a:pt x="274142" y="0"/>
                </a:lnTo>
                <a:close/>
              </a:path>
              <a:path w="1686559" h="274320">
                <a:moveTo>
                  <a:pt x="1412176" y="0"/>
                </a:moveTo>
                <a:lnTo>
                  <a:pt x="274142" y="0"/>
                </a:lnTo>
                <a:lnTo>
                  <a:pt x="274142" y="274142"/>
                </a:lnTo>
                <a:lnTo>
                  <a:pt x="1412176" y="274142"/>
                </a:lnTo>
                <a:lnTo>
                  <a:pt x="1412176" y="0"/>
                </a:lnTo>
                <a:close/>
              </a:path>
              <a:path w="1686559" h="274320">
                <a:moveTo>
                  <a:pt x="1686318" y="0"/>
                </a:moveTo>
                <a:lnTo>
                  <a:pt x="1412176" y="0"/>
                </a:lnTo>
                <a:lnTo>
                  <a:pt x="1412176" y="274142"/>
                </a:lnTo>
                <a:lnTo>
                  <a:pt x="1686318" y="0"/>
                </a:lnTo>
                <a:close/>
              </a:path>
              <a:path w="1686559" h="274320">
                <a:moveTo>
                  <a:pt x="1686318" y="0"/>
                </a:moveTo>
                <a:lnTo>
                  <a:pt x="1412176" y="274142"/>
                </a:lnTo>
                <a:lnTo>
                  <a:pt x="1686318" y="274142"/>
                </a:lnTo>
                <a:lnTo>
                  <a:pt x="16863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0747" y="843381"/>
            <a:ext cx="6561455" cy="5664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50" spc="90"/>
              <a:t>When</a:t>
            </a:r>
            <a:r>
              <a:rPr dirty="0" sz="3550" spc="50">
                <a:latin typeface="Arial"/>
                <a:cs typeface="Arial"/>
              </a:rPr>
              <a:t> </a:t>
            </a:r>
            <a:r>
              <a:rPr dirty="0" sz="3550" spc="220"/>
              <a:t>to</a:t>
            </a:r>
            <a:r>
              <a:rPr dirty="0" sz="3550" spc="50">
                <a:latin typeface="Arial"/>
                <a:cs typeface="Arial"/>
              </a:rPr>
              <a:t> </a:t>
            </a:r>
            <a:r>
              <a:rPr dirty="0" sz="3550" spc="90"/>
              <a:t>Handle</a:t>
            </a:r>
            <a:r>
              <a:rPr dirty="0" sz="3550" spc="50">
                <a:latin typeface="Arial"/>
                <a:cs typeface="Arial"/>
              </a:rPr>
              <a:t> </a:t>
            </a:r>
            <a:r>
              <a:rPr dirty="0" sz="3550" spc="70"/>
              <a:t>Nulls:</a:t>
            </a:r>
            <a:r>
              <a:rPr dirty="0" sz="3550" spc="50">
                <a:latin typeface="Arial"/>
                <a:cs typeface="Arial"/>
              </a:rPr>
              <a:t> </a:t>
            </a:r>
            <a:r>
              <a:rPr dirty="0" sz="3550" spc="80"/>
              <a:t>Insights</a:t>
            </a:r>
            <a:endParaRPr sz="35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58217" y="1938134"/>
            <a:ext cx="3745229" cy="1588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4427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2B2E3C"/>
                </a:solidFill>
                <a:latin typeface="Arial Unicode MS"/>
                <a:cs typeface="Arial Unicode MS"/>
              </a:rPr>
              <a:t>Total</a:t>
            </a:r>
            <a:r>
              <a:rPr dirty="0" sz="2200" spc="8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B2E3C"/>
                </a:solidFill>
                <a:latin typeface="Arial Unicode MS"/>
                <a:cs typeface="Arial Unicode MS"/>
              </a:rPr>
              <a:t>Laid</a:t>
            </a:r>
            <a:r>
              <a:rPr dirty="0" sz="2200" spc="8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200" spc="55">
                <a:solidFill>
                  <a:srgbClr val="2B2E3C"/>
                </a:solidFill>
                <a:latin typeface="Arial Unicode MS"/>
                <a:cs typeface="Arial Unicode MS"/>
              </a:rPr>
              <a:t>Off:</a:t>
            </a:r>
            <a:r>
              <a:rPr dirty="0" sz="2200" spc="8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200" spc="-30">
                <a:solidFill>
                  <a:srgbClr val="2B2E3C"/>
                </a:solidFill>
                <a:latin typeface="Arial Unicode MS"/>
                <a:cs typeface="Arial Unicode MS"/>
              </a:rPr>
              <a:t>NULL</a:t>
            </a:r>
            <a:endParaRPr sz="2200">
              <a:latin typeface="Arial Unicode MS"/>
              <a:cs typeface="Arial Unicode MS"/>
            </a:endParaRPr>
          </a:p>
          <a:p>
            <a:pPr algn="r" marL="12700" marR="8255" indent="515620">
              <a:lnSpc>
                <a:spcPct val="135700"/>
              </a:lnSpc>
              <a:spcBef>
                <a:spcPts val="1110"/>
              </a:spcBef>
            </a:pPr>
            <a:r>
              <a:rPr dirty="0" sz="1750" spc="75">
                <a:solidFill>
                  <a:srgbClr val="2B2E3C"/>
                </a:solidFill>
                <a:latin typeface="Arial Unicode MS"/>
                <a:cs typeface="Arial Unicode MS"/>
              </a:rPr>
              <a:t>Often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indicates</a:t>
            </a:r>
            <a:r>
              <a:rPr dirty="0" sz="1750" spc="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5">
                <a:solidFill>
                  <a:srgbClr val="2B2E3C"/>
                </a:solidFill>
                <a:latin typeface="Arial Unicode MS"/>
                <a:cs typeface="Arial Unicode MS"/>
              </a:rPr>
              <a:t>no</a:t>
            </a:r>
            <a:r>
              <a:rPr dirty="0" sz="1750" spc="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45">
                <a:solidFill>
                  <a:srgbClr val="2B2E3C"/>
                </a:solidFill>
                <a:latin typeface="Arial Unicode MS"/>
                <a:cs typeface="Arial Unicode MS"/>
              </a:rPr>
              <a:t>layoffs</a:t>
            </a:r>
            <a:r>
              <a:rPr dirty="0" sz="1750" spc="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05">
                <a:solidFill>
                  <a:srgbClr val="2B2E3C"/>
                </a:solidFill>
                <a:latin typeface="Arial Unicode MS"/>
                <a:cs typeface="Arial Unicode MS"/>
              </a:rPr>
              <a:t>for</a:t>
            </a:r>
            <a:r>
              <a:rPr dirty="0" sz="1750" spc="10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315">
                <a:solidFill>
                  <a:srgbClr val="2B2E3C"/>
                </a:solidFill>
                <a:latin typeface="Arial Unicode MS"/>
                <a:cs typeface="Arial Unicode MS"/>
              </a:rPr>
              <a:t>a</a:t>
            </a:r>
            <a:r>
              <a:rPr dirty="0" sz="1750" spc="8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0">
                <a:solidFill>
                  <a:srgbClr val="2B2E3C"/>
                </a:solidFill>
                <a:latin typeface="Arial Unicode MS"/>
                <a:cs typeface="Arial Unicode MS"/>
              </a:rPr>
              <a:t>period</a:t>
            </a:r>
            <a:r>
              <a:rPr dirty="0" sz="1750" spc="8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05">
                <a:solidFill>
                  <a:srgbClr val="2B2E3C"/>
                </a:solidFill>
                <a:latin typeface="Arial Unicode MS"/>
                <a:cs typeface="Arial Unicode MS"/>
              </a:rPr>
              <a:t>or</a:t>
            </a:r>
            <a:r>
              <a:rPr dirty="0" sz="1750" spc="8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company,</a:t>
            </a:r>
            <a:r>
              <a:rPr dirty="0" sz="1750" spc="8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05">
                <a:solidFill>
                  <a:srgbClr val="2B2E3C"/>
                </a:solidFill>
                <a:latin typeface="Arial Unicode MS"/>
                <a:cs typeface="Arial Unicode MS"/>
              </a:rPr>
              <a:t>or</a:t>
            </a:r>
            <a:r>
              <a:rPr dirty="0" sz="1750" spc="8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5">
                <a:solidFill>
                  <a:srgbClr val="2B2E3C"/>
                </a:solidFill>
                <a:latin typeface="Arial Unicode MS"/>
                <a:cs typeface="Arial Unicode MS"/>
              </a:rPr>
              <a:t>data</a:t>
            </a:r>
            <a:r>
              <a:rPr dirty="0" sz="1750" spc="8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was</a:t>
            </a:r>
            <a:r>
              <a:rPr dirty="0" sz="1750" spc="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2B2E3C"/>
                </a:solidFill>
                <a:latin typeface="Arial Unicode MS"/>
                <a:cs typeface="Arial Unicode MS"/>
              </a:rPr>
              <a:t>not</a:t>
            </a:r>
            <a:endParaRPr sz="1750">
              <a:latin typeface="Arial Unicode MS"/>
              <a:cs typeface="Arial Unicode MS"/>
            </a:endParaRPr>
          </a:p>
          <a:p>
            <a:pPr algn="r" marR="5080">
              <a:lnSpc>
                <a:spcPct val="100000"/>
              </a:lnSpc>
              <a:spcBef>
                <a:spcPts val="750"/>
              </a:spcBef>
            </a:pPr>
            <a:r>
              <a:rPr dirty="0" sz="1750" spc="60">
                <a:solidFill>
                  <a:srgbClr val="2B2E3C"/>
                </a:solidFill>
                <a:latin typeface="Arial Unicode MS"/>
                <a:cs typeface="Arial Unicode MS"/>
              </a:rPr>
              <a:t>reported.</a:t>
            </a:r>
            <a:endParaRPr sz="1750">
              <a:latin typeface="Arial Unicode MS"/>
              <a:cs typeface="Arial Unicode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032793" y="1851837"/>
            <a:ext cx="4565015" cy="4565015"/>
            <a:chOff x="5032793" y="1851837"/>
            <a:chExt cx="4565015" cy="456501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32793" y="1851837"/>
              <a:ext cx="4564443" cy="456444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4212" y="2899682"/>
              <a:ext cx="122263" cy="16438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030353" y="2849219"/>
              <a:ext cx="310515" cy="311150"/>
            </a:xfrm>
            <a:custGeom>
              <a:avLst/>
              <a:gdLst/>
              <a:ahLst/>
              <a:cxnLst/>
              <a:rect l="l" t="t" r="r" b="b"/>
              <a:pathLst>
                <a:path w="310514" h="311150">
                  <a:moveTo>
                    <a:pt x="50406" y="40144"/>
                  </a:moveTo>
                  <a:lnTo>
                    <a:pt x="30685" y="61624"/>
                  </a:lnTo>
                  <a:lnTo>
                    <a:pt x="15487" y="86175"/>
                  </a:lnTo>
                  <a:lnTo>
                    <a:pt x="5147" y="113089"/>
                  </a:lnTo>
                  <a:lnTo>
                    <a:pt x="0" y="141655"/>
                  </a:lnTo>
                  <a:lnTo>
                    <a:pt x="93" y="170845"/>
                  </a:lnTo>
                  <a:lnTo>
                    <a:pt x="16205" y="225848"/>
                  </a:lnTo>
                  <a:lnTo>
                    <a:pt x="51636" y="271644"/>
                  </a:lnTo>
                  <a:lnTo>
                    <a:pt x="100989" y="301208"/>
                  </a:lnTo>
                  <a:lnTo>
                    <a:pt x="158216" y="310812"/>
                  </a:lnTo>
                  <a:lnTo>
                    <a:pt x="186847" y="307527"/>
                  </a:lnTo>
                  <a:lnTo>
                    <a:pt x="240131" y="285305"/>
                  </a:lnTo>
                  <a:lnTo>
                    <a:pt x="281663" y="245429"/>
                  </a:lnTo>
                  <a:lnTo>
                    <a:pt x="305650" y="193141"/>
                  </a:lnTo>
                  <a:lnTo>
                    <a:pt x="309981" y="164301"/>
                  </a:lnTo>
                  <a:lnTo>
                    <a:pt x="308979" y="135496"/>
                  </a:lnTo>
                  <a:lnTo>
                    <a:pt x="291249" y="80822"/>
                  </a:lnTo>
                  <a:lnTo>
                    <a:pt x="254574" y="36094"/>
                  </a:lnTo>
                  <a:lnTo>
                    <a:pt x="204127" y="8102"/>
                  </a:lnTo>
                  <a:lnTo>
                    <a:pt x="147062" y="0"/>
                  </a:lnTo>
                  <a:lnTo>
                    <a:pt x="118566" y="4048"/>
                  </a:lnTo>
                  <a:lnTo>
                    <a:pt x="91084" y="13500"/>
                  </a:lnTo>
                </a:path>
              </a:pathLst>
            </a:custGeom>
            <a:ln w="13906">
              <a:solidFill>
                <a:srgbClr val="2B2E3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182994" y="3095637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39" h="2539">
                  <a:moveTo>
                    <a:pt x="2527" y="1447"/>
                  </a:moveTo>
                  <a:lnTo>
                    <a:pt x="2159" y="1803"/>
                  </a:lnTo>
                  <a:lnTo>
                    <a:pt x="2159" y="2159"/>
                  </a:lnTo>
                  <a:lnTo>
                    <a:pt x="1803" y="2159"/>
                  </a:lnTo>
                  <a:lnTo>
                    <a:pt x="1803" y="2527"/>
                  </a:lnTo>
                  <a:lnTo>
                    <a:pt x="1447" y="2527"/>
                  </a:lnTo>
                  <a:lnTo>
                    <a:pt x="1079" y="2527"/>
                  </a:lnTo>
                  <a:lnTo>
                    <a:pt x="723" y="2527"/>
                  </a:lnTo>
                  <a:lnTo>
                    <a:pt x="368" y="2527"/>
                  </a:lnTo>
                  <a:lnTo>
                    <a:pt x="368" y="2159"/>
                  </a:lnTo>
                  <a:lnTo>
                    <a:pt x="0" y="1803"/>
                  </a:lnTo>
                  <a:lnTo>
                    <a:pt x="0" y="1447"/>
                  </a:lnTo>
                  <a:lnTo>
                    <a:pt x="0" y="1079"/>
                  </a:lnTo>
                  <a:lnTo>
                    <a:pt x="0" y="723"/>
                  </a:lnTo>
                  <a:lnTo>
                    <a:pt x="368" y="368"/>
                  </a:lnTo>
                  <a:lnTo>
                    <a:pt x="723" y="0"/>
                  </a:lnTo>
                  <a:lnTo>
                    <a:pt x="1079" y="0"/>
                  </a:lnTo>
                  <a:lnTo>
                    <a:pt x="1447" y="0"/>
                  </a:lnTo>
                  <a:lnTo>
                    <a:pt x="1803" y="368"/>
                  </a:lnTo>
                  <a:lnTo>
                    <a:pt x="2159" y="368"/>
                  </a:lnTo>
                  <a:lnTo>
                    <a:pt x="2159" y="723"/>
                  </a:lnTo>
                  <a:lnTo>
                    <a:pt x="2527" y="1079"/>
                  </a:lnTo>
                  <a:lnTo>
                    <a:pt x="2527" y="1447"/>
                  </a:lnTo>
                  <a:close/>
                </a:path>
              </a:pathLst>
            </a:custGeom>
            <a:ln w="13906">
              <a:solidFill>
                <a:srgbClr val="2B2E3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080404" y="2862719"/>
              <a:ext cx="41275" cy="26670"/>
            </a:xfrm>
            <a:custGeom>
              <a:avLst/>
              <a:gdLst/>
              <a:ahLst/>
              <a:cxnLst/>
              <a:rect l="l" t="t" r="r" b="b"/>
              <a:pathLst>
                <a:path w="41275" h="26669">
                  <a:moveTo>
                    <a:pt x="41033" y="0"/>
                  </a:moveTo>
                  <a:lnTo>
                    <a:pt x="0" y="26644"/>
                  </a:lnTo>
                </a:path>
              </a:pathLst>
            </a:custGeom>
            <a:ln w="13906">
              <a:solidFill>
                <a:srgbClr val="2B2E3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32793" y="1851837"/>
              <a:ext cx="4564443" cy="456444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59225" y="3023942"/>
              <a:ext cx="143034" cy="143034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8301596" y="2856242"/>
              <a:ext cx="281940" cy="295275"/>
            </a:xfrm>
            <a:custGeom>
              <a:avLst/>
              <a:gdLst/>
              <a:ahLst/>
              <a:cxnLst/>
              <a:rect l="l" t="t" r="r" b="b"/>
              <a:pathLst>
                <a:path w="281940" h="295275">
                  <a:moveTo>
                    <a:pt x="0" y="294843"/>
                  </a:moveTo>
                  <a:lnTo>
                    <a:pt x="281889" y="0"/>
                  </a:lnTo>
                </a:path>
              </a:pathLst>
            </a:custGeom>
            <a:ln w="13798">
              <a:solidFill>
                <a:srgbClr val="2B2E3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87496" y="2842142"/>
              <a:ext cx="143757" cy="143757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32793" y="1851837"/>
              <a:ext cx="4564443" cy="4564443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8289366" y="5169598"/>
              <a:ext cx="311150" cy="189865"/>
            </a:xfrm>
            <a:custGeom>
              <a:avLst/>
              <a:gdLst/>
              <a:ahLst/>
              <a:cxnLst/>
              <a:rect l="l" t="t" r="r" b="b"/>
              <a:pathLst>
                <a:path w="311150" h="189864">
                  <a:moveTo>
                    <a:pt x="297713" y="189357"/>
                  </a:moveTo>
                  <a:lnTo>
                    <a:pt x="311035" y="178562"/>
                  </a:lnTo>
                  <a:lnTo>
                    <a:pt x="311035" y="177126"/>
                  </a:lnTo>
                  <a:lnTo>
                    <a:pt x="311035" y="173875"/>
                  </a:lnTo>
                  <a:lnTo>
                    <a:pt x="311035" y="169202"/>
                  </a:lnTo>
                </a:path>
                <a:path w="311150" h="189864">
                  <a:moveTo>
                    <a:pt x="311035" y="13677"/>
                  </a:moveTo>
                  <a:lnTo>
                    <a:pt x="304558" y="2159"/>
                  </a:lnTo>
                  <a:lnTo>
                    <a:pt x="303110" y="1079"/>
                  </a:lnTo>
                  <a:lnTo>
                    <a:pt x="300951" y="723"/>
                  </a:lnTo>
                  <a:lnTo>
                    <a:pt x="296633" y="355"/>
                  </a:lnTo>
                  <a:lnTo>
                    <a:pt x="290156" y="0"/>
                  </a:lnTo>
                </a:path>
                <a:path w="311150" h="189864">
                  <a:moveTo>
                    <a:pt x="15836" y="0"/>
                  </a:moveTo>
                  <a:lnTo>
                    <a:pt x="355" y="10439"/>
                  </a:lnTo>
                  <a:lnTo>
                    <a:pt x="355" y="11887"/>
                  </a:lnTo>
                  <a:lnTo>
                    <a:pt x="0" y="14757"/>
                  </a:lnTo>
                  <a:lnTo>
                    <a:pt x="0" y="19075"/>
                  </a:lnTo>
                </a:path>
                <a:path w="311150" h="189864">
                  <a:moveTo>
                    <a:pt x="0" y="174599"/>
                  </a:moveTo>
                  <a:lnTo>
                    <a:pt x="14757" y="189357"/>
                  </a:lnTo>
                  <a:lnTo>
                    <a:pt x="17995" y="189357"/>
                  </a:lnTo>
                </a:path>
                <a:path w="311150" h="189864">
                  <a:moveTo>
                    <a:pt x="51473" y="0"/>
                  </a:moveTo>
                  <a:lnTo>
                    <a:pt x="35991" y="37084"/>
                  </a:lnTo>
                  <a:lnTo>
                    <a:pt x="31673" y="41402"/>
                  </a:lnTo>
                  <a:lnTo>
                    <a:pt x="8267" y="51117"/>
                  </a:lnTo>
                  <a:lnTo>
                    <a:pt x="0" y="52920"/>
                  </a:lnTo>
                </a:path>
                <a:path w="311150" h="189864">
                  <a:moveTo>
                    <a:pt x="158038" y="48247"/>
                  </a:moveTo>
                  <a:lnTo>
                    <a:pt x="155155" y="47879"/>
                  </a:lnTo>
                  <a:lnTo>
                    <a:pt x="150469" y="48247"/>
                  </a:lnTo>
                  <a:lnTo>
                    <a:pt x="144348" y="49326"/>
                  </a:lnTo>
                  <a:lnTo>
                    <a:pt x="130314" y="61925"/>
                  </a:lnTo>
                  <a:lnTo>
                    <a:pt x="129590" y="63715"/>
                  </a:lnTo>
                  <a:lnTo>
                    <a:pt x="129235" y="66598"/>
                  </a:lnTo>
                  <a:lnTo>
                    <a:pt x="129235" y="69837"/>
                  </a:lnTo>
                  <a:lnTo>
                    <a:pt x="156953" y="94370"/>
                  </a:lnTo>
                  <a:lnTo>
                    <a:pt x="164061" y="96845"/>
                  </a:lnTo>
                  <a:lnTo>
                    <a:pt x="181787" y="118440"/>
                  </a:lnTo>
                  <a:lnTo>
                    <a:pt x="181787" y="121323"/>
                  </a:lnTo>
                  <a:lnTo>
                    <a:pt x="155155" y="141478"/>
                  </a:lnTo>
                  <a:lnTo>
                    <a:pt x="150114" y="141122"/>
                  </a:lnTo>
                  <a:lnTo>
                    <a:pt x="129590" y="124561"/>
                  </a:lnTo>
                  <a:lnTo>
                    <a:pt x="128511" y="120243"/>
                  </a:lnTo>
                </a:path>
                <a:path w="311150" h="189864">
                  <a:moveTo>
                    <a:pt x="311035" y="136804"/>
                  </a:moveTo>
                  <a:lnTo>
                    <a:pt x="304573" y="137420"/>
                  </a:lnTo>
                  <a:lnTo>
                    <a:pt x="298210" y="138780"/>
                  </a:lnTo>
                  <a:lnTo>
                    <a:pt x="266750" y="163080"/>
                  </a:lnTo>
                  <a:lnTo>
                    <a:pt x="260017" y="182417"/>
                  </a:lnTo>
                  <a:lnTo>
                    <a:pt x="259549" y="189357"/>
                  </a:lnTo>
                </a:path>
                <a:path w="311150" h="189864">
                  <a:moveTo>
                    <a:pt x="51117" y="189357"/>
                  </a:moveTo>
                  <a:lnTo>
                    <a:pt x="51117" y="189001"/>
                  </a:lnTo>
                  <a:lnTo>
                    <a:pt x="51117" y="188645"/>
                  </a:lnTo>
                  <a:lnTo>
                    <a:pt x="50649" y="181909"/>
                  </a:lnTo>
                  <a:lnTo>
                    <a:pt x="30547" y="147332"/>
                  </a:lnTo>
                  <a:lnTo>
                    <a:pt x="6460" y="137109"/>
                  </a:lnTo>
                  <a:lnTo>
                    <a:pt x="0" y="136436"/>
                  </a:lnTo>
                </a:path>
                <a:path w="311150" h="189864">
                  <a:moveTo>
                    <a:pt x="311035" y="52565"/>
                  </a:moveTo>
                  <a:lnTo>
                    <a:pt x="304573" y="51892"/>
                  </a:lnTo>
                  <a:lnTo>
                    <a:pt x="298210" y="50445"/>
                  </a:lnTo>
                  <a:lnTo>
                    <a:pt x="266750" y="25920"/>
                  </a:lnTo>
                  <a:lnTo>
                    <a:pt x="260017" y="6734"/>
                  </a:lnTo>
                  <a:lnTo>
                    <a:pt x="259549" y="0"/>
                  </a:lnTo>
                </a:path>
                <a:path w="311150" h="189864">
                  <a:moveTo>
                    <a:pt x="264960" y="189357"/>
                  </a:moveTo>
                  <a:lnTo>
                    <a:pt x="297713" y="189357"/>
                  </a:lnTo>
                </a:path>
                <a:path w="311150" h="189864">
                  <a:moveTo>
                    <a:pt x="311035" y="169202"/>
                  </a:moveTo>
                  <a:lnTo>
                    <a:pt x="311035" y="13677"/>
                  </a:lnTo>
                </a:path>
                <a:path w="311150" h="189864">
                  <a:moveTo>
                    <a:pt x="155155" y="33845"/>
                  </a:moveTo>
                  <a:lnTo>
                    <a:pt x="155155" y="47879"/>
                  </a:lnTo>
                </a:path>
                <a:path w="311150" h="189864">
                  <a:moveTo>
                    <a:pt x="290156" y="0"/>
                  </a:moveTo>
                  <a:lnTo>
                    <a:pt x="15836" y="0"/>
                  </a:lnTo>
                </a:path>
                <a:path w="311150" h="189864">
                  <a:moveTo>
                    <a:pt x="155155" y="154444"/>
                  </a:moveTo>
                  <a:lnTo>
                    <a:pt x="155155" y="141478"/>
                  </a:lnTo>
                </a:path>
                <a:path w="311150" h="189864">
                  <a:moveTo>
                    <a:pt x="0" y="19075"/>
                  </a:moveTo>
                  <a:lnTo>
                    <a:pt x="0" y="174599"/>
                  </a:lnTo>
                </a:path>
                <a:path w="311150" h="189864">
                  <a:moveTo>
                    <a:pt x="158038" y="48602"/>
                  </a:moveTo>
                  <a:lnTo>
                    <a:pt x="158750" y="48602"/>
                  </a:lnTo>
                  <a:lnTo>
                    <a:pt x="159473" y="48247"/>
                  </a:lnTo>
                  <a:lnTo>
                    <a:pt x="159829" y="48247"/>
                  </a:lnTo>
                  <a:lnTo>
                    <a:pt x="163791" y="48247"/>
                  </a:lnTo>
                  <a:lnTo>
                    <a:pt x="167398" y="49326"/>
                  </a:lnTo>
                  <a:lnTo>
                    <a:pt x="170637" y="51485"/>
                  </a:lnTo>
                  <a:lnTo>
                    <a:pt x="173875" y="53276"/>
                  </a:lnTo>
                  <a:lnTo>
                    <a:pt x="176758" y="55803"/>
                  </a:lnTo>
                  <a:lnTo>
                    <a:pt x="178549" y="59397"/>
                  </a:lnTo>
                  <a:lnTo>
                    <a:pt x="180352" y="62280"/>
                  </a:lnTo>
                  <a:lnTo>
                    <a:pt x="181432" y="65887"/>
                  </a:lnTo>
                  <a:lnTo>
                    <a:pt x="181432" y="69126"/>
                  </a:lnTo>
                </a:path>
                <a:path w="311150" h="189864">
                  <a:moveTo>
                    <a:pt x="17995" y="189357"/>
                  </a:moveTo>
                  <a:lnTo>
                    <a:pt x="264960" y="189357"/>
                  </a:lnTo>
                </a:path>
              </a:pathLst>
            </a:custGeom>
            <a:ln w="13784">
              <a:solidFill>
                <a:srgbClr val="2B2E3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32793" y="1851837"/>
              <a:ext cx="4564443" cy="456444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22375" y="5119138"/>
              <a:ext cx="325556" cy="289920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9924745" y="1938134"/>
            <a:ext cx="3905885" cy="1588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2B2E3C"/>
                </a:solidFill>
                <a:latin typeface="Arial Unicode MS"/>
                <a:cs typeface="Arial Unicode MS"/>
              </a:rPr>
              <a:t>Percentage</a:t>
            </a:r>
            <a:r>
              <a:rPr dirty="0" sz="2200" spc="1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B2E3C"/>
                </a:solidFill>
                <a:latin typeface="Arial Unicode MS"/>
                <a:cs typeface="Arial Unicode MS"/>
              </a:rPr>
              <a:t>Laid</a:t>
            </a:r>
            <a:r>
              <a:rPr dirty="0" sz="2200" spc="1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200" spc="60">
                <a:solidFill>
                  <a:srgbClr val="2B2E3C"/>
                </a:solidFill>
                <a:latin typeface="Arial Unicode MS"/>
                <a:cs typeface="Arial Unicode MS"/>
              </a:rPr>
              <a:t>Off:</a:t>
            </a:r>
            <a:r>
              <a:rPr dirty="0" sz="2200" spc="1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2B2E3C"/>
                </a:solidFill>
                <a:latin typeface="Arial Unicode MS"/>
                <a:cs typeface="Arial Unicode MS"/>
              </a:rPr>
              <a:t>NULL</a:t>
            </a:r>
            <a:endParaRPr sz="2200">
              <a:latin typeface="Arial Unicode MS"/>
              <a:cs typeface="Arial Unicode MS"/>
            </a:endParaRPr>
          </a:p>
          <a:p>
            <a:pPr marL="12700" marR="5080">
              <a:lnSpc>
                <a:spcPct val="135700"/>
              </a:lnSpc>
              <a:spcBef>
                <a:spcPts val="1110"/>
              </a:spcBef>
            </a:pP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Similar</a:t>
            </a:r>
            <a:r>
              <a:rPr dirty="0" sz="1750" spc="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05">
                <a:solidFill>
                  <a:srgbClr val="2B2E3C"/>
                </a:solidFill>
                <a:latin typeface="Arial Unicode MS"/>
                <a:cs typeface="Arial Unicode MS"/>
              </a:rPr>
              <a:t>to</a:t>
            </a:r>
            <a:r>
              <a:rPr dirty="0" sz="1750" spc="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5">
                <a:solidFill>
                  <a:srgbClr val="2B2E3C"/>
                </a:solidFill>
                <a:latin typeface="Arial Unicode MS"/>
                <a:cs typeface="Arial Unicode MS"/>
              </a:rPr>
              <a:t>total</a:t>
            </a:r>
            <a:r>
              <a:rPr dirty="0" sz="1750" spc="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0">
                <a:solidFill>
                  <a:srgbClr val="2B2E3C"/>
                </a:solidFill>
                <a:latin typeface="Arial Unicode MS"/>
                <a:cs typeface="Arial Unicode MS"/>
              </a:rPr>
              <a:t>laid</a:t>
            </a:r>
            <a:r>
              <a:rPr dirty="0" sz="1750" spc="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60">
                <a:solidFill>
                  <a:srgbClr val="2B2E3C"/>
                </a:solidFill>
                <a:latin typeface="Arial Unicode MS"/>
                <a:cs typeface="Arial Unicode MS"/>
              </a:rPr>
              <a:t>off,</a:t>
            </a:r>
            <a:r>
              <a:rPr dirty="0" sz="1750" spc="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a</a:t>
            </a:r>
            <a:r>
              <a:rPr dirty="0" sz="1750" spc="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45">
                <a:solidFill>
                  <a:srgbClr val="2B2E3C"/>
                </a:solidFill>
                <a:latin typeface="Arial Unicode MS"/>
                <a:cs typeface="Arial Unicode MS"/>
              </a:rPr>
              <a:t>missing</a:t>
            </a:r>
            <a:r>
              <a:rPr dirty="0" sz="1750" spc="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0">
                <a:solidFill>
                  <a:srgbClr val="2B2E3C"/>
                </a:solidFill>
                <a:latin typeface="Arial Unicode MS"/>
                <a:cs typeface="Arial Unicode MS"/>
              </a:rPr>
              <a:t>percentage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65">
                <a:solidFill>
                  <a:srgbClr val="2B2E3C"/>
                </a:solidFill>
                <a:latin typeface="Arial Unicode MS"/>
                <a:cs typeface="Arial Unicode MS"/>
              </a:rPr>
              <a:t>may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65">
                <a:solidFill>
                  <a:srgbClr val="2B2E3C"/>
                </a:solidFill>
                <a:latin typeface="Arial Unicode MS"/>
                <a:cs typeface="Arial Unicode MS"/>
              </a:rPr>
              <a:t>mean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zero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45">
                <a:solidFill>
                  <a:srgbClr val="2B2E3C"/>
                </a:solidFill>
                <a:latin typeface="Arial Unicode MS"/>
                <a:cs typeface="Arial Unicode MS"/>
              </a:rPr>
              <a:t>layoffs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25">
                <a:solidFill>
                  <a:srgbClr val="2B2E3C"/>
                </a:solidFill>
                <a:latin typeface="Arial Unicode MS"/>
                <a:cs typeface="Arial Unicode MS"/>
              </a:rPr>
              <a:t>or</a:t>
            </a:r>
            <a:r>
              <a:rPr dirty="0" sz="1750" spc="-2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5">
                <a:solidFill>
                  <a:srgbClr val="2B2E3C"/>
                </a:solidFill>
                <a:latin typeface="Arial Unicode MS"/>
                <a:cs typeface="Arial Unicode MS"/>
              </a:rPr>
              <a:t>unknown</a:t>
            </a:r>
            <a:r>
              <a:rPr dirty="0" sz="1750" spc="2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40">
                <a:solidFill>
                  <a:srgbClr val="2B2E3C"/>
                </a:solidFill>
                <a:latin typeface="Arial Unicode MS"/>
                <a:cs typeface="Arial Unicode MS"/>
              </a:rPr>
              <a:t>figures.</a:t>
            </a:r>
            <a:endParaRPr sz="1750">
              <a:latin typeface="Arial Unicode MS"/>
              <a:cs typeface="Arial Unicode M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924745" y="4209376"/>
            <a:ext cx="3344545" cy="1949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2B2E3C"/>
                </a:solidFill>
                <a:latin typeface="Arial Unicode MS"/>
                <a:cs typeface="Arial Unicode MS"/>
              </a:rPr>
              <a:t>Funds</a:t>
            </a:r>
            <a:r>
              <a:rPr dirty="0" sz="2200" spc="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2B2E3C"/>
                </a:solidFill>
                <a:latin typeface="Arial Unicode MS"/>
                <a:cs typeface="Arial Unicode MS"/>
              </a:rPr>
              <a:t>Raised:</a:t>
            </a:r>
            <a:r>
              <a:rPr dirty="0" sz="2200" spc="1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2B2E3C"/>
                </a:solidFill>
                <a:latin typeface="Arial Unicode MS"/>
                <a:cs typeface="Arial Unicode MS"/>
              </a:rPr>
              <a:t>NULL</a:t>
            </a:r>
            <a:endParaRPr sz="2200">
              <a:latin typeface="Arial Unicode MS"/>
              <a:cs typeface="Arial Unicode MS"/>
            </a:endParaRPr>
          </a:p>
          <a:p>
            <a:pPr marL="12700" marR="5080">
              <a:lnSpc>
                <a:spcPct val="135700"/>
              </a:lnSpc>
              <a:spcBef>
                <a:spcPts val="1110"/>
              </a:spcBef>
            </a:pP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This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5">
                <a:solidFill>
                  <a:srgbClr val="2B2E3C"/>
                </a:solidFill>
                <a:latin typeface="Arial Unicode MS"/>
                <a:cs typeface="Arial Unicode MS"/>
              </a:rPr>
              <a:t>could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0">
                <a:solidFill>
                  <a:srgbClr val="2B2E3C"/>
                </a:solidFill>
                <a:latin typeface="Arial Unicode MS"/>
                <a:cs typeface="Arial Unicode MS"/>
              </a:rPr>
              <a:t>imply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self-</a:t>
            </a:r>
            <a:r>
              <a:rPr dirty="0" sz="1750" spc="55">
                <a:solidFill>
                  <a:srgbClr val="2B2E3C"/>
                </a:solidFill>
                <a:latin typeface="Arial Unicode MS"/>
                <a:cs typeface="Arial Unicode MS"/>
              </a:rPr>
              <a:t>funded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companies,</a:t>
            </a:r>
            <a:r>
              <a:rPr dirty="0" sz="1750" spc="1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65">
                <a:solidFill>
                  <a:srgbClr val="2B2E3C"/>
                </a:solidFill>
                <a:latin typeface="Arial Unicode MS"/>
                <a:cs typeface="Arial Unicode MS"/>
              </a:rPr>
              <a:t>private</a:t>
            </a:r>
            <a:r>
              <a:rPr dirty="0" sz="1750" spc="17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95">
                <a:solidFill>
                  <a:srgbClr val="2B2E3C"/>
                </a:solidFill>
                <a:latin typeface="Arial Unicode MS"/>
                <a:cs typeface="Arial Unicode MS"/>
              </a:rPr>
              <a:t>funding</a:t>
            </a:r>
            <a:r>
              <a:rPr dirty="0" sz="1750" spc="16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0">
                <a:solidFill>
                  <a:srgbClr val="2B2E3C"/>
                </a:solidFill>
                <a:latin typeface="Arial Unicode MS"/>
                <a:cs typeface="Arial Unicode MS"/>
              </a:rPr>
              <a:t>not</a:t>
            </a:r>
            <a:r>
              <a:rPr dirty="0" sz="1750" spc="8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disclosed,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05">
                <a:solidFill>
                  <a:srgbClr val="2B2E3C"/>
                </a:solidFill>
                <a:latin typeface="Arial Unicode MS"/>
                <a:cs typeface="Arial Unicode MS"/>
              </a:rPr>
              <a:t>or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5">
                <a:solidFill>
                  <a:srgbClr val="2B2E3C"/>
                </a:solidFill>
                <a:latin typeface="Arial Unicode MS"/>
                <a:cs typeface="Arial Unicode MS"/>
              </a:rPr>
              <a:t>simply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35">
                <a:solidFill>
                  <a:srgbClr val="2B2E3C"/>
                </a:solidFill>
                <a:latin typeface="Arial Unicode MS"/>
                <a:cs typeface="Arial Unicode MS"/>
              </a:rPr>
              <a:t>unrecorded</a:t>
            </a:r>
            <a:r>
              <a:rPr dirty="0" sz="1750" spc="3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B2E3C"/>
                </a:solidFill>
                <a:latin typeface="Arial Unicode MS"/>
                <a:cs typeface="Arial Unicode MS"/>
              </a:rPr>
              <a:t>data.</a:t>
            </a:r>
            <a:endParaRPr sz="1750">
              <a:latin typeface="Arial Unicode MS"/>
              <a:cs typeface="Arial Unicode M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588579" y="4027932"/>
            <a:ext cx="3116580" cy="864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35075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2B2E3C"/>
                </a:solidFill>
                <a:latin typeface="Arial Unicode MS"/>
                <a:cs typeface="Arial Unicode MS"/>
              </a:rPr>
              <a:t>Decision</a:t>
            </a:r>
            <a:r>
              <a:rPr dirty="0" sz="2200" spc="31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200" spc="50">
                <a:solidFill>
                  <a:srgbClr val="2B2E3C"/>
                </a:solidFill>
                <a:latin typeface="Arial Unicode MS"/>
                <a:cs typeface="Arial Unicode MS"/>
              </a:rPr>
              <a:t>Point</a:t>
            </a:r>
            <a:endParaRPr sz="220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1860"/>
              </a:spcBef>
            </a:pPr>
            <a:r>
              <a:rPr dirty="0" sz="1750" spc="90">
                <a:solidFill>
                  <a:srgbClr val="2B2E3C"/>
                </a:solidFill>
                <a:latin typeface="Arial Unicode MS"/>
                <a:cs typeface="Arial Unicode MS"/>
              </a:rPr>
              <a:t>Not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all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5">
                <a:solidFill>
                  <a:srgbClr val="2B2E3C"/>
                </a:solidFill>
                <a:latin typeface="Arial Unicode MS"/>
                <a:cs typeface="Arial Unicode MS"/>
              </a:rPr>
              <a:t>nulls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5">
                <a:solidFill>
                  <a:srgbClr val="2B2E3C"/>
                </a:solidFill>
                <a:latin typeface="Arial Unicode MS"/>
                <a:cs typeface="Arial Unicode MS"/>
              </a:rPr>
              <a:t>need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65">
                <a:solidFill>
                  <a:srgbClr val="2B2E3C"/>
                </a:solidFill>
                <a:latin typeface="Arial Unicode MS"/>
                <a:cs typeface="Arial Unicode MS"/>
              </a:rPr>
              <a:t>imputation.</a:t>
            </a:r>
            <a:endParaRPr sz="1750">
              <a:latin typeface="Arial Unicode MS"/>
              <a:cs typeface="Arial Unicode MS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3353041" y="4990327"/>
            <a:ext cx="1337945" cy="258445"/>
          </a:xfrm>
          <a:custGeom>
            <a:avLst/>
            <a:gdLst/>
            <a:ahLst/>
            <a:cxnLst/>
            <a:rect l="l" t="t" r="r" b="b"/>
            <a:pathLst>
              <a:path w="1337945" h="258445">
                <a:moveTo>
                  <a:pt x="1337398" y="0"/>
                </a:moveTo>
                <a:lnTo>
                  <a:pt x="0" y="0"/>
                </a:lnTo>
                <a:lnTo>
                  <a:pt x="0" y="258112"/>
                </a:lnTo>
                <a:lnTo>
                  <a:pt x="1337398" y="258112"/>
                </a:lnTo>
                <a:lnTo>
                  <a:pt x="1337398" y="0"/>
                </a:lnTo>
                <a:close/>
              </a:path>
            </a:pathLst>
          </a:custGeom>
          <a:solidFill>
            <a:srgbClr val="F2EB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862824" y="4961423"/>
            <a:ext cx="388683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Consider</a:t>
            </a:r>
            <a:r>
              <a:rPr dirty="0" sz="1750" spc="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0">
                <a:solidFill>
                  <a:srgbClr val="2B2E3C"/>
                </a:solidFill>
                <a:latin typeface="Arial Unicode MS"/>
                <a:cs typeface="Arial Unicode MS"/>
              </a:rPr>
              <a:t>the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0">
                <a:solidFill>
                  <a:srgbClr val="2B2E3C"/>
                </a:solidFill>
                <a:latin typeface="Arial Unicode MS"/>
                <a:cs typeface="Arial Unicode MS"/>
              </a:rPr>
              <a:t>context:</a:t>
            </a:r>
            <a:r>
              <a:rPr dirty="0" sz="1750" spc="9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5">
                <a:solidFill>
                  <a:srgbClr val="2B2E3C"/>
                </a:solidFill>
                <a:latin typeface="Arial Unicode MS"/>
                <a:cs typeface="Arial Unicode MS"/>
              </a:rPr>
              <a:t>if</a:t>
            </a:r>
            <a:r>
              <a:rPr dirty="0" sz="1750" spc="14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445">
                <a:solidFill>
                  <a:srgbClr val="2B2E3C"/>
                </a:solidFill>
                <a:latin typeface="DejaVu Sans Mono"/>
                <a:cs typeface="DejaVu Sans Mono"/>
              </a:rPr>
              <a:t>t</a:t>
            </a:r>
            <a:r>
              <a:rPr dirty="0" sz="1750" spc="-10">
                <a:solidFill>
                  <a:srgbClr val="2B2E3C"/>
                </a:solidFill>
                <a:latin typeface="DejaVu Sans Mono"/>
                <a:cs typeface="DejaVu Sans Mono"/>
              </a:rPr>
              <a:t>o</a:t>
            </a:r>
            <a:r>
              <a:rPr dirty="0" sz="1750" spc="-445">
                <a:solidFill>
                  <a:srgbClr val="2B2E3C"/>
                </a:solidFill>
                <a:latin typeface="DejaVu Sans Mono"/>
                <a:cs typeface="DejaVu Sans Mono"/>
              </a:rPr>
              <a:t>t</a:t>
            </a:r>
            <a:r>
              <a:rPr dirty="0" sz="1750" spc="-95">
                <a:solidFill>
                  <a:srgbClr val="2B2E3C"/>
                </a:solidFill>
                <a:latin typeface="DejaVu Sans Mono"/>
                <a:cs typeface="DejaVu Sans Mono"/>
              </a:rPr>
              <a:t>a</a:t>
            </a:r>
            <a:r>
              <a:rPr dirty="0" sz="1750" spc="-625">
                <a:solidFill>
                  <a:srgbClr val="2B2E3C"/>
                </a:solidFill>
                <a:latin typeface="DejaVu Sans Mono"/>
                <a:cs typeface="DejaVu Sans Mono"/>
              </a:rPr>
              <a:t>l</a:t>
            </a:r>
            <a:r>
              <a:rPr dirty="0" sz="1750" spc="-300">
                <a:solidFill>
                  <a:srgbClr val="2B2E3C"/>
                </a:solidFill>
                <a:latin typeface="DejaVu Sans Mono"/>
                <a:cs typeface="DejaVu Sans Mono"/>
              </a:rPr>
              <a:t>_</a:t>
            </a:r>
            <a:r>
              <a:rPr dirty="0" sz="1750" spc="-625">
                <a:solidFill>
                  <a:srgbClr val="2B2E3C"/>
                </a:solidFill>
                <a:latin typeface="DejaVu Sans Mono"/>
                <a:cs typeface="DejaVu Sans Mono"/>
              </a:rPr>
              <a:t>l</a:t>
            </a:r>
            <a:r>
              <a:rPr dirty="0" sz="1750" spc="-95">
                <a:solidFill>
                  <a:srgbClr val="2B2E3C"/>
                </a:solidFill>
                <a:latin typeface="DejaVu Sans Mono"/>
                <a:cs typeface="DejaVu Sans Mono"/>
              </a:rPr>
              <a:t>a</a:t>
            </a:r>
            <a:r>
              <a:rPr dirty="0" sz="1750" spc="-625">
                <a:solidFill>
                  <a:srgbClr val="2B2E3C"/>
                </a:solidFill>
                <a:latin typeface="DejaVu Sans Mono"/>
                <a:cs typeface="DejaVu Sans Mono"/>
              </a:rPr>
              <a:t>i</a:t>
            </a:r>
            <a:r>
              <a:rPr dirty="0" sz="1750" spc="5">
                <a:solidFill>
                  <a:srgbClr val="2B2E3C"/>
                </a:solidFill>
                <a:latin typeface="DejaVu Sans Mono"/>
                <a:cs typeface="DejaVu Sans Mono"/>
              </a:rPr>
              <a:t>d</a:t>
            </a:r>
            <a:r>
              <a:rPr dirty="0" sz="1750" spc="-300">
                <a:solidFill>
                  <a:srgbClr val="2B2E3C"/>
                </a:solidFill>
                <a:latin typeface="DejaVu Sans Mono"/>
                <a:cs typeface="DejaVu Sans Mono"/>
              </a:rPr>
              <a:t>_</a:t>
            </a:r>
            <a:r>
              <a:rPr dirty="0" sz="1750" spc="-15">
                <a:solidFill>
                  <a:srgbClr val="2B2E3C"/>
                </a:solidFill>
                <a:latin typeface="DejaVu Sans Mono"/>
                <a:cs typeface="DejaVu Sans Mono"/>
              </a:rPr>
              <a:t>o</a:t>
            </a:r>
            <a:r>
              <a:rPr dirty="0" sz="1750" spc="17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50" b="1">
                <a:solidFill>
                  <a:srgbClr val="2B2E3C"/>
                </a:solidFill>
                <a:latin typeface="DejaVu Sans Mono"/>
                <a:cs typeface="DejaVu Sans Mono"/>
              </a:rPr>
              <a:t>f</a:t>
            </a:r>
            <a:endParaRPr sz="1750">
              <a:latin typeface="DejaVu Sans Mono"/>
              <a:cs typeface="DejaVu Sans Mono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700999" y="5352120"/>
            <a:ext cx="2047875" cy="258445"/>
          </a:xfrm>
          <a:custGeom>
            <a:avLst/>
            <a:gdLst/>
            <a:ahLst/>
            <a:cxnLst/>
            <a:rect l="l" t="t" r="r" b="b"/>
            <a:pathLst>
              <a:path w="2047875" h="258445">
                <a:moveTo>
                  <a:pt x="2047316" y="0"/>
                </a:moveTo>
                <a:lnTo>
                  <a:pt x="0" y="0"/>
                </a:lnTo>
                <a:lnTo>
                  <a:pt x="0" y="258117"/>
                </a:lnTo>
                <a:lnTo>
                  <a:pt x="2047316" y="258117"/>
                </a:lnTo>
                <a:lnTo>
                  <a:pt x="2047316" y="0"/>
                </a:lnTo>
                <a:close/>
              </a:path>
            </a:pathLst>
          </a:custGeom>
          <a:solidFill>
            <a:srgbClr val="F2EB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231099" y="5323216"/>
            <a:ext cx="347281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60">
                <a:solidFill>
                  <a:srgbClr val="2B2E3C"/>
                </a:solidFill>
                <a:latin typeface="Arial Unicode MS"/>
                <a:cs typeface="Arial Unicode MS"/>
              </a:rPr>
              <a:t>and</a:t>
            </a:r>
            <a:r>
              <a:rPr dirty="0" sz="1750" spc="4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0">
                <a:solidFill>
                  <a:srgbClr val="2B2E3C"/>
                </a:solidFill>
                <a:latin typeface="DejaVu Sans Mono"/>
                <a:cs typeface="DejaVu Sans Mono"/>
              </a:rPr>
              <a:t>p</a:t>
            </a:r>
            <a:r>
              <a:rPr dirty="0" sz="1750" spc="-85">
                <a:solidFill>
                  <a:srgbClr val="2B2E3C"/>
                </a:solidFill>
                <a:latin typeface="DejaVu Sans Mono"/>
                <a:cs typeface="DejaVu Sans Mono"/>
              </a:rPr>
              <a:t>e</a:t>
            </a:r>
            <a:r>
              <a:rPr dirty="0" sz="1750" spc="-380">
                <a:solidFill>
                  <a:srgbClr val="2B2E3C"/>
                </a:solidFill>
                <a:latin typeface="DejaVu Sans Mono"/>
                <a:cs typeface="DejaVu Sans Mono"/>
              </a:rPr>
              <a:t>r</a:t>
            </a:r>
            <a:r>
              <a:rPr dirty="0" sz="1750" spc="-229">
                <a:solidFill>
                  <a:srgbClr val="2B2E3C"/>
                </a:solidFill>
                <a:latin typeface="DejaVu Sans Mono"/>
                <a:cs typeface="DejaVu Sans Mono"/>
              </a:rPr>
              <a:t>c</a:t>
            </a:r>
            <a:r>
              <a:rPr dirty="0" sz="1750" spc="-85">
                <a:solidFill>
                  <a:srgbClr val="2B2E3C"/>
                </a:solidFill>
                <a:latin typeface="DejaVu Sans Mono"/>
                <a:cs typeface="DejaVu Sans Mono"/>
              </a:rPr>
              <a:t>e</a:t>
            </a:r>
            <a:r>
              <a:rPr dirty="0" sz="1750" spc="15">
                <a:solidFill>
                  <a:srgbClr val="2B2E3C"/>
                </a:solidFill>
                <a:latin typeface="DejaVu Sans Mono"/>
                <a:cs typeface="DejaVu Sans Mono"/>
              </a:rPr>
              <a:t>n</a:t>
            </a:r>
            <a:r>
              <a:rPr dirty="0" sz="1750" spc="-440">
                <a:solidFill>
                  <a:srgbClr val="2B2E3C"/>
                </a:solidFill>
                <a:latin typeface="DejaVu Sans Mono"/>
                <a:cs typeface="DejaVu Sans Mono"/>
              </a:rPr>
              <a:t>t</a:t>
            </a:r>
            <a:r>
              <a:rPr dirty="0" sz="1750" spc="-90">
                <a:solidFill>
                  <a:srgbClr val="2B2E3C"/>
                </a:solidFill>
                <a:latin typeface="DejaVu Sans Mono"/>
                <a:cs typeface="DejaVu Sans Mono"/>
              </a:rPr>
              <a:t>a</a:t>
            </a:r>
            <a:r>
              <a:rPr dirty="0" sz="1750" spc="10">
                <a:solidFill>
                  <a:srgbClr val="2B2E3C"/>
                </a:solidFill>
                <a:latin typeface="DejaVu Sans Mono"/>
                <a:cs typeface="DejaVu Sans Mono"/>
              </a:rPr>
              <a:t>g</a:t>
            </a:r>
            <a:r>
              <a:rPr dirty="0" sz="1750" spc="-80">
                <a:solidFill>
                  <a:srgbClr val="2B2E3C"/>
                </a:solidFill>
                <a:latin typeface="DejaVu Sans Mono"/>
                <a:cs typeface="DejaVu Sans Mono"/>
              </a:rPr>
              <a:t>e</a:t>
            </a:r>
            <a:r>
              <a:rPr dirty="0" sz="1750" spc="-295">
                <a:solidFill>
                  <a:srgbClr val="2B2E3C"/>
                </a:solidFill>
                <a:latin typeface="DejaVu Sans Mono"/>
                <a:cs typeface="DejaVu Sans Mono"/>
              </a:rPr>
              <a:t>_</a:t>
            </a:r>
            <a:r>
              <a:rPr dirty="0" sz="1750" spc="-620">
                <a:solidFill>
                  <a:srgbClr val="2B2E3C"/>
                </a:solidFill>
                <a:latin typeface="DejaVu Sans Mono"/>
                <a:cs typeface="DejaVu Sans Mono"/>
              </a:rPr>
              <a:t>l</a:t>
            </a:r>
            <a:r>
              <a:rPr dirty="0" sz="1750" spc="-90">
                <a:solidFill>
                  <a:srgbClr val="2B2E3C"/>
                </a:solidFill>
                <a:latin typeface="DejaVu Sans Mono"/>
                <a:cs typeface="DejaVu Sans Mono"/>
              </a:rPr>
              <a:t>a</a:t>
            </a:r>
            <a:r>
              <a:rPr dirty="0" sz="1750" spc="-625">
                <a:solidFill>
                  <a:srgbClr val="2B2E3C"/>
                </a:solidFill>
                <a:latin typeface="DejaVu Sans Mono"/>
                <a:cs typeface="DejaVu Sans Mono"/>
              </a:rPr>
              <a:t>i</a:t>
            </a:r>
            <a:r>
              <a:rPr dirty="0" sz="1750" spc="10">
                <a:solidFill>
                  <a:srgbClr val="2B2E3C"/>
                </a:solidFill>
                <a:latin typeface="DejaVu Sans Mono"/>
                <a:cs typeface="DejaVu Sans Mono"/>
              </a:rPr>
              <a:t>d</a:t>
            </a:r>
            <a:r>
              <a:rPr dirty="0" sz="1750" spc="-295">
                <a:solidFill>
                  <a:srgbClr val="2B2E3C"/>
                </a:solidFill>
                <a:latin typeface="DejaVu Sans Mono"/>
                <a:cs typeface="DejaVu Sans Mono"/>
              </a:rPr>
              <a:t>_</a:t>
            </a:r>
            <a:r>
              <a:rPr dirty="0" sz="1750" spc="-10">
                <a:solidFill>
                  <a:srgbClr val="2B2E3C"/>
                </a:solidFill>
                <a:latin typeface="DejaVu Sans Mono"/>
                <a:cs typeface="DejaVu Sans Mono"/>
              </a:rPr>
              <a:t>o</a:t>
            </a:r>
            <a:r>
              <a:rPr dirty="0" sz="1750" spc="11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0" b="1">
                <a:solidFill>
                  <a:srgbClr val="2B2E3C"/>
                </a:solidFill>
                <a:latin typeface="DejaVu Sans Mono"/>
                <a:cs typeface="DejaVu Sans Mono"/>
              </a:rPr>
              <a:t>f</a:t>
            </a:r>
            <a:r>
              <a:rPr dirty="0" sz="1750" spc="50">
                <a:solidFill>
                  <a:srgbClr val="2B2E3C"/>
                </a:solidFill>
                <a:latin typeface="Arial Unicode MS"/>
                <a:cs typeface="Arial Unicode MS"/>
              </a:rPr>
              <a:t>are</a:t>
            </a:r>
            <a:r>
              <a:rPr dirty="0" sz="1750" spc="3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0">
                <a:solidFill>
                  <a:srgbClr val="2B2E3C"/>
                </a:solidFill>
                <a:latin typeface="Arial Unicode MS"/>
                <a:cs typeface="Arial Unicode MS"/>
              </a:rPr>
              <a:t>both</a:t>
            </a:r>
            <a:endParaRPr sz="1750">
              <a:latin typeface="Arial Unicode MS"/>
              <a:cs typeface="Arial Unicode M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086011" y="5589760"/>
            <a:ext cx="3613150" cy="749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73355">
              <a:lnSpc>
                <a:spcPct val="135700"/>
              </a:lnSpc>
              <a:spcBef>
                <a:spcPts val="100"/>
              </a:spcBef>
            </a:pP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NULL,</a:t>
            </a:r>
            <a:r>
              <a:rPr dirty="0" sz="17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00">
                <a:solidFill>
                  <a:srgbClr val="2B2E3C"/>
                </a:solidFill>
                <a:latin typeface="Arial Unicode MS"/>
                <a:cs typeface="Arial Unicode MS"/>
              </a:rPr>
              <a:t>it</a:t>
            </a:r>
            <a:r>
              <a:rPr dirty="0" sz="1750" spc="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10">
                <a:solidFill>
                  <a:srgbClr val="2B2E3C"/>
                </a:solidFill>
                <a:latin typeface="Arial Unicode MS"/>
                <a:cs typeface="Arial Unicode MS"/>
              </a:rPr>
              <a:t>might</a:t>
            </a:r>
            <a:r>
              <a:rPr dirty="0" sz="1750" spc="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0">
                <a:solidFill>
                  <a:srgbClr val="2B2E3C"/>
                </a:solidFill>
                <a:latin typeface="Arial Unicode MS"/>
                <a:cs typeface="Arial Unicode MS"/>
              </a:rPr>
              <a:t>indicate</a:t>
            </a:r>
            <a:r>
              <a:rPr dirty="0" sz="17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0">
                <a:solidFill>
                  <a:srgbClr val="2B2E3C"/>
                </a:solidFill>
                <a:latin typeface="Arial Unicode MS"/>
                <a:cs typeface="Arial Unicode MS"/>
              </a:rPr>
              <a:t>rows</a:t>
            </a:r>
            <a:r>
              <a:rPr dirty="0" sz="1750" spc="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2B2E3C"/>
                </a:solidFill>
                <a:latin typeface="Arial Unicode MS"/>
                <a:cs typeface="Arial Unicode MS"/>
              </a:rPr>
              <a:t>that</a:t>
            </a:r>
            <a:r>
              <a:rPr dirty="0" sz="1750" spc="-2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5">
                <a:solidFill>
                  <a:srgbClr val="2B2E3C"/>
                </a:solidFill>
                <a:latin typeface="Arial Unicode MS"/>
                <a:cs typeface="Arial Unicode MS"/>
              </a:rPr>
              <a:t>provide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5">
                <a:solidFill>
                  <a:srgbClr val="2B2E3C"/>
                </a:solidFill>
                <a:latin typeface="Arial Unicode MS"/>
                <a:cs typeface="Arial Unicode MS"/>
              </a:rPr>
              <a:t>no</a:t>
            </a:r>
            <a:r>
              <a:rPr dirty="0" sz="1750" spc="6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value</a:t>
            </a:r>
            <a:r>
              <a:rPr dirty="0" sz="1750" spc="6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05">
                <a:solidFill>
                  <a:srgbClr val="2B2E3C"/>
                </a:solidFill>
                <a:latin typeface="Arial Unicode MS"/>
                <a:cs typeface="Arial Unicode MS"/>
              </a:rPr>
              <a:t>to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60">
                <a:solidFill>
                  <a:srgbClr val="2B2E3C"/>
                </a:solidFill>
                <a:latin typeface="Arial Unicode MS"/>
                <a:cs typeface="Arial Unicode MS"/>
              </a:rPr>
              <a:t>layoff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10">
                <a:solidFill>
                  <a:srgbClr val="2B2E3C"/>
                </a:solidFill>
                <a:latin typeface="Arial Unicode MS"/>
                <a:cs typeface="Arial Unicode MS"/>
              </a:rPr>
              <a:t>analysis.</a:t>
            </a:r>
            <a:endParaRPr sz="1750">
              <a:latin typeface="Arial Unicode MS"/>
              <a:cs typeface="Arial Unicode MS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7761605" y="6783486"/>
            <a:ext cx="1337945" cy="258445"/>
          </a:xfrm>
          <a:custGeom>
            <a:avLst/>
            <a:gdLst/>
            <a:ahLst/>
            <a:cxnLst/>
            <a:rect l="l" t="t" r="r" b="b"/>
            <a:pathLst>
              <a:path w="1337945" h="258445">
                <a:moveTo>
                  <a:pt x="1337398" y="0"/>
                </a:moveTo>
                <a:lnTo>
                  <a:pt x="0" y="0"/>
                </a:lnTo>
                <a:lnTo>
                  <a:pt x="0" y="258117"/>
                </a:lnTo>
                <a:lnTo>
                  <a:pt x="1337398" y="258117"/>
                </a:lnTo>
                <a:lnTo>
                  <a:pt x="1337398" y="0"/>
                </a:lnTo>
                <a:close/>
              </a:path>
            </a:pathLst>
          </a:custGeom>
          <a:solidFill>
            <a:srgbClr val="F2EB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9218155" y="6783486"/>
            <a:ext cx="2047875" cy="258445"/>
          </a:xfrm>
          <a:custGeom>
            <a:avLst/>
            <a:gdLst/>
            <a:ahLst/>
            <a:cxnLst/>
            <a:rect l="l" t="t" r="r" b="b"/>
            <a:pathLst>
              <a:path w="2047875" h="258445">
                <a:moveTo>
                  <a:pt x="2047316" y="0"/>
                </a:moveTo>
                <a:lnTo>
                  <a:pt x="0" y="0"/>
                </a:lnTo>
                <a:lnTo>
                  <a:pt x="0" y="258117"/>
                </a:lnTo>
                <a:lnTo>
                  <a:pt x="2047316" y="258117"/>
                </a:lnTo>
                <a:lnTo>
                  <a:pt x="2047316" y="0"/>
                </a:lnTo>
                <a:close/>
              </a:path>
            </a:pathLst>
          </a:custGeom>
          <a:solidFill>
            <a:srgbClr val="F2EB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793447" y="7145287"/>
            <a:ext cx="2247265" cy="258445"/>
          </a:xfrm>
          <a:custGeom>
            <a:avLst/>
            <a:gdLst/>
            <a:ahLst/>
            <a:cxnLst/>
            <a:rect l="l" t="t" r="r" b="b"/>
            <a:pathLst>
              <a:path w="2247265" h="258445">
                <a:moveTo>
                  <a:pt x="2246757" y="0"/>
                </a:moveTo>
                <a:lnTo>
                  <a:pt x="0" y="0"/>
                </a:lnTo>
                <a:lnTo>
                  <a:pt x="0" y="258112"/>
                </a:lnTo>
                <a:lnTo>
                  <a:pt x="2246757" y="258112"/>
                </a:lnTo>
                <a:lnTo>
                  <a:pt x="2246757" y="0"/>
                </a:lnTo>
                <a:close/>
              </a:path>
            </a:pathLst>
          </a:custGeom>
          <a:solidFill>
            <a:srgbClr val="F2EB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780747" y="6659308"/>
            <a:ext cx="11529695" cy="74930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750" spc="55">
                <a:solidFill>
                  <a:srgbClr val="2B2E3C"/>
                </a:solidFill>
                <a:latin typeface="Arial Unicode MS"/>
                <a:cs typeface="Arial Unicode MS"/>
              </a:rPr>
              <a:t>It's</a:t>
            </a:r>
            <a:r>
              <a:rPr dirty="0" sz="1750" spc="9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crucial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05">
                <a:solidFill>
                  <a:srgbClr val="2B2E3C"/>
                </a:solidFill>
                <a:latin typeface="Arial Unicode MS"/>
                <a:cs typeface="Arial Unicode MS"/>
              </a:rPr>
              <a:t>to</a:t>
            </a:r>
            <a:r>
              <a:rPr dirty="0" sz="1750" spc="9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evaluate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each</a:t>
            </a:r>
            <a:r>
              <a:rPr dirty="0" sz="1750" spc="9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0">
                <a:solidFill>
                  <a:srgbClr val="2B2E3C"/>
                </a:solidFill>
                <a:latin typeface="Arial Unicode MS"/>
                <a:cs typeface="Arial Unicode MS"/>
              </a:rPr>
              <a:t>null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75">
                <a:solidFill>
                  <a:srgbClr val="2B2E3C"/>
                </a:solidFill>
                <a:latin typeface="Arial Unicode MS"/>
                <a:cs typeface="Arial Unicode MS"/>
              </a:rPr>
              <a:t>column</a:t>
            </a:r>
            <a:r>
              <a:rPr dirty="0" sz="1750" spc="9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0">
                <a:solidFill>
                  <a:srgbClr val="2B2E3C"/>
                </a:solidFill>
                <a:latin typeface="Arial Unicode MS"/>
                <a:cs typeface="Arial Unicode MS"/>
              </a:rPr>
              <a:t>individually.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For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some,</a:t>
            </a:r>
            <a:r>
              <a:rPr dirty="0" sz="1750" spc="9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like</a:t>
            </a:r>
            <a:r>
              <a:rPr dirty="0" sz="1750" spc="21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445">
                <a:solidFill>
                  <a:srgbClr val="2B2E3C"/>
                </a:solidFill>
                <a:latin typeface="DejaVu Sans Mono"/>
                <a:cs typeface="DejaVu Sans Mono"/>
              </a:rPr>
              <a:t>t</a:t>
            </a:r>
            <a:r>
              <a:rPr dirty="0" sz="1750" spc="-10">
                <a:solidFill>
                  <a:srgbClr val="2B2E3C"/>
                </a:solidFill>
                <a:latin typeface="DejaVu Sans Mono"/>
                <a:cs typeface="DejaVu Sans Mono"/>
              </a:rPr>
              <a:t>o</a:t>
            </a:r>
            <a:r>
              <a:rPr dirty="0" sz="1750" spc="-445">
                <a:solidFill>
                  <a:srgbClr val="2B2E3C"/>
                </a:solidFill>
                <a:latin typeface="DejaVu Sans Mono"/>
                <a:cs typeface="DejaVu Sans Mono"/>
              </a:rPr>
              <a:t>t</a:t>
            </a:r>
            <a:r>
              <a:rPr dirty="0" sz="1750" spc="-95">
                <a:solidFill>
                  <a:srgbClr val="2B2E3C"/>
                </a:solidFill>
                <a:latin typeface="DejaVu Sans Mono"/>
                <a:cs typeface="DejaVu Sans Mono"/>
              </a:rPr>
              <a:t>a</a:t>
            </a:r>
            <a:r>
              <a:rPr dirty="0" sz="1750" spc="-625">
                <a:solidFill>
                  <a:srgbClr val="2B2E3C"/>
                </a:solidFill>
                <a:latin typeface="DejaVu Sans Mono"/>
                <a:cs typeface="DejaVu Sans Mono"/>
              </a:rPr>
              <a:t>l</a:t>
            </a:r>
            <a:r>
              <a:rPr dirty="0" sz="1750" spc="-300">
                <a:solidFill>
                  <a:srgbClr val="2B2E3C"/>
                </a:solidFill>
                <a:latin typeface="DejaVu Sans Mono"/>
                <a:cs typeface="DejaVu Sans Mono"/>
              </a:rPr>
              <a:t>_</a:t>
            </a:r>
            <a:r>
              <a:rPr dirty="0" sz="1750" spc="-625">
                <a:solidFill>
                  <a:srgbClr val="2B2E3C"/>
                </a:solidFill>
                <a:latin typeface="DejaVu Sans Mono"/>
                <a:cs typeface="DejaVu Sans Mono"/>
              </a:rPr>
              <a:t>l</a:t>
            </a:r>
            <a:r>
              <a:rPr dirty="0" sz="1750" spc="-95">
                <a:solidFill>
                  <a:srgbClr val="2B2E3C"/>
                </a:solidFill>
                <a:latin typeface="DejaVu Sans Mono"/>
                <a:cs typeface="DejaVu Sans Mono"/>
              </a:rPr>
              <a:t>a</a:t>
            </a:r>
            <a:r>
              <a:rPr dirty="0" sz="1750" spc="-625">
                <a:solidFill>
                  <a:srgbClr val="2B2E3C"/>
                </a:solidFill>
                <a:latin typeface="DejaVu Sans Mono"/>
                <a:cs typeface="DejaVu Sans Mono"/>
              </a:rPr>
              <a:t>i</a:t>
            </a:r>
            <a:r>
              <a:rPr dirty="0" sz="1750" spc="5">
                <a:solidFill>
                  <a:srgbClr val="2B2E3C"/>
                </a:solidFill>
                <a:latin typeface="DejaVu Sans Mono"/>
                <a:cs typeface="DejaVu Sans Mono"/>
              </a:rPr>
              <a:t>d</a:t>
            </a:r>
            <a:r>
              <a:rPr dirty="0" sz="1750" spc="-300">
                <a:solidFill>
                  <a:srgbClr val="2B2E3C"/>
                </a:solidFill>
                <a:latin typeface="DejaVu Sans Mono"/>
                <a:cs typeface="DejaVu Sans Mono"/>
              </a:rPr>
              <a:t>_</a:t>
            </a:r>
            <a:r>
              <a:rPr dirty="0" sz="1750" spc="-15">
                <a:solidFill>
                  <a:srgbClr val="2B2E3C"/>
                </a:solidFill>
                <a:latin typeface="DejaVu Sans Mono"/>
                <a:cs typeface="DejaVu Sans Mono"/>
              </a:rPr>
              <a:t>o</a:t>
            </a:r>
            <a:r>
              <a:rPr dirty="0" sz="1750" spc="17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190" b="1">
                <a:solidFill>
                  <a:srgbClr val="2B2E3C"/>
                </a:solidFill>
                <a:latin typeface="DejaVu Sans Mono"/>
                <a:cs typeface="DejaVu Sans Mono"/>
              </a:rPr>
              <a:t>f</a:t>
            </a:r>
            <a:r>
              <a:rPr dirty="0" sz="1750" spc="-190">
                <a:solidFill>
                  <a:srgbClr val="2B2E3C"/>
                </a:solidFill>
                <a:latin typeface="Arial Unicode MS"/>
                <a:cs typeface="Arial Unicode MS"/>
              </a:rPr>
              <a:t>,</a:t>
            </a:r>
            <a:r>
              <a:rPr dirty="0" sz="1750" spc="9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0">
                <a:solidFill>
                  <a:srgbClr val="2B2E3C"/>
                </a:solidFill>
                <a:latin typeface="DejaVu Sans Mono"/>
                <a:cs typeface="DejaVu Sans Mono"/>
              </a:rPr>
              <a:t>p</a:t>
            </a:r>
            <a:r>
              <a:rPr dirty="0" sz="1750" spc="-85">
                <a:solidFill>
                  <a:srgbClr val="2B2E3C"/>
                </a:solidFill>
                <a:latin typeface="DejaVu Sans Mono"/>
                <a:cs typeface="DejaVu Sans Mono"/>
              </a:rPr>
              <a:t>e</a:t>
            </a:r>
            <a:r>
              <a:rPr dirty="0" sz="1750" spc="-380">
                <a:solidFill>
                  <a:srgbClr val="2B2E3C"/>
                </a:solidFill>
                <a:latin typeface="DejaVu Sans Mono"/>
                <a:cs typeface="DejaVu Sans Mono"/>
              </a:rPr>
              <a:t>r</a:t>
            </a:r>
            <a:r>
              <a:rPr dirty="0" sz="1750" spc="-229">
                <a:solidFill>
                  <a:srgbClr val="2B2E3C"/>
                </a:solidFill>
                <a:latin typeface="DejaVu Sans Mono"/>
                <a:cs typeface="DejaVu Sans Mono"/>
              </a:rPr>
              <a:t>c</a:t>
            </a:r>
            <a:r>
              <a:rPr dirty="0" sz="1750" spc="-85">
                <a:solidFill>
                  <a:srgbClr val="2B2E3C"/>
                </a:solidFill>
                <a:latin typeface="DejaVu Sans Mono"/>
                <a:cs typeface="DejaVu Sans Mono"/>
              </a:rPr>
              <a:t>e</a:t>
            </a:r>
            <a:r>
              <a:rPr dirty="0" sz="1750" spc="15">
                <a:solidFill>
                  <a:srgbClr val="2B2E3C"/>
                </a:solidFill>
                <a:latin typeface="DejaVu Sans Mono"/>
                <a:cs typeface="DejaVu Sans Mono"/>
              </a:rPr>
              <a:t>n</a:t>
            </a:r>
            <a:r>
              <a:rPr dirty="0" sz="1750" spc="-440">
                <a:solidFill>
                  <a:srgbClr val="2B2E3C"/>
                </a:solidFill>
                <a:latin typeface="DejaVu Sans Mono"/>
                <a:cs typeface="DejaVu Sans Mono"/>
              </a:rPr>
              <a:t>t</a:t>
            </a:r>
            <a:r>
              <a:rPr dirty="0" sz="1750" spc="-90">
                <a:solidFill>
                  <a:srgbClr val="2B2E3C"/>
                </a:solidFill>
                <a:latin typeface="DejaVu Sans Mono"/>
                <a:cs typeface="DejaVu Sans Mono"/>
              </a:rPr>
              <a:t>a</a:t>
            </a:r>
            <a:r>
              <a:rPr dirty="0" sz="1750" spc="10">
                <a:solidFill>
                  <a:srgbClr val="2B2E3C"/>
                </a:solidFill>
                <a:latin typeface="DejaVu Sans Mono"/>
                <a:cs typeface="DejaVu Sans Mono"/>
              </a:rPr>
              <a:t>g</a:t>
            </a:r>
            <a:r>
              <a:rPr dirty="0" sz="1750" spc="-80">
                <a:solidFill>
                  <a:srgbClr val="2B2E3C"/>
                </a:solidFill>
                <a:latin typeface="DejaVu Sans Mono"/>
                <a:cs typeface="DejaVu Sans Mono"/>
              </a:rPr>
              <a:t>e</a:t>
            </a:r>
            <a:r>
              <a:rPr dirty="0" sz="1750" spc="-295">
                <a:solidFill>
                  <a:srgbClr val="2B2E3C"/>
                </a:solidFill>
                <a:latin typeface="DejaVu Sans Mono"/>
                <a:cs typeface="DejaVu Sans Mono"/>
              </a:rPr>
              <a:t>_</a:t>
            </a:r>
            <a:r>
              <a:rPr dirty="0" sz="1750" spc="-620">
                <a:solidFill>
                  <a:srgbClr val="2B2E3C"/>
                </a:solidFill>
                <a:latin typeface="DejaVu Sans Mono"/>
                <a:cs typeface="DejaVu Sans Mono"/>
              </a:rPr>
              <a:t>l</a:t>
            </a:r>
            <a:r>
              <a:rPr dirty="0" sz="1750" spc="-90">
                <a:solidFill>
                  <a:srgbClr val="2B2E3C"/>
                </a:solidFill>
                <a:latin typeface="DejaVu Sans Mono"/>
                <a:cs typeface="DejaVu Sans Mono"/>
              </a:rPr>
              <a:t>a</a:t>
            </a:r>
            <a:r>
              <a:rPr dirty="0" sz="1750" spc="-625">
                <a:solidFill>
                  <a:srgbClr val="2B2E3C"/>
                </a:solidFill>
                <a:latin typeface="DejaVu Sans Mono"/>
                <a:cs typeface="DejaVu Sans Mono"/>
              </a:rPr>
              <a:t>i</a:t>
            </a:r>
            <a:r>
              <a:rPr dirty="0" sz="1750" spc="10">
                <a:solidFill>
                  <a:srgbClr val="2B2E3C"/>
                </a:solidFill>
                <a:latin typeface="DejaVu Sans Mono"/>
                <a:cs typeface="DejaVu Sans Mono"/>
              </a:rPr>
              <a:t>d</a:t>
            </a:r>
            <a:r>
              <a:rPr dirty="0" sz="1750" spc="-295">
                <a:solidFill>
                  <a:srgbClr val="2B2E3C"/>
                </a:solidFill>
                <a:latin typeface="DejaVu Sans Mono"/>
                <a:cs typeface="DejaVu Sans Mono"/>
              </a:rPr>
              <a:t>_</a:t>
            </a:r>
            <a:r>
              <a:rPr dirty="0" sz="1750" spc="-10">
                <a:solidFill>
                  <a:srgbClr val="2B2E3C"/>
                </a:solidFill>
                <a:latin typeface="DejaVu Sans Mono"/>
                <a:cs typeface="DejaVu Sans Mono"/>
              </a:rPr>
              <a:t>o</a:t>
            </a:r>
            <a:r>
              <a:rPr dirty="0" sz="1750" spc="17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190" b="1">
                <a:solidFill>
                  <a:srgbClr val="2B2E3C"/>
                </a:solidFill>
                <a:latin typeface="DejaVu Sans Mono"/>
                <a:cs typeface="DejaVu Sans Mono"/>
              </a:rPr>
              <a:t>f</a:t>
            </a:r>
            <a:r>
              <a:rPr dirty="0" sz="1750" spc="-190">
                <a:solidFill>
                  <a:srgbClr val="2B2E3C"/>
                </a:solidFill>
                <a:latin typeface="Arial Unicode MS"/>
                <a:cs typeface="Arial Unicode MS"/>
              </a:rPr>
              <a:t>,</a:t>
            </a:r>
            <a:r>
              <a:rPr dirty="0" sz="17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0">
                <a:solidFill>
                  <a:srgbClr val="2B2E3C"/>
                </a:solidFill>
                <a:latin typeface="Arial Unicode MS"/>
                <a:cs typeface="Arial Unicode MS"/>
              </a:rPr>
              <a:t>or</a:t>
            </a:r>
            <a:endParaRPr sz="1750">
              <a:latin typeface="Arial Unicode MS"/>
              <a:cs typeface="Arial Unicode MS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750" spc="-470">
                <a:solidFill>
                  <a:srgbClr val="2B2E3C"/>
                </a:solidFill>
                <a:latin typeface="DejaVu Sans Mono"/>
                <a:cs typeface="DejaVu Sans Mono"/>
              </a:rPr>
              <a:t>f</a:t>
            </a:r>
            <a:r>
              <a:rPr dirty="0" sz="1750" spc="15">
                <a:solidFill>
                  <a:srgbClr val="2B2E3C"/>
                </a:solidFill>
                <a:latin typeface="DejaVu Sans Mono"/>
                <a:cs typeface="DejaVu Sans Mono"/>
              </a:rPr>
              <a:t>un</a:t>
            </a:r>
            <a:r>
              <a:rPr dirty="0" sz="1750" spc="10">
                <a:solidFill>
                  <a:srgbClr val="2B2E3C"/>
                </a:solidFill>
                <a:latin typeface="DejaVu Sans Mono"/>
                <a:cs typeface="DejaVu Sans Mono"/>
              </a:rPr>
              <a:t>d</a:t>
            </a:r>
            <a:r>
              <a:rPr dirty="0" sz="1750" spc="-235">
                <a:solidFill>
                  <a:srgbClr val="2B2E3C"/>
                </a:solidFill>
                <a:latin typeface="DejaVu Sans Mono"/>
                <a:cs typeface="DejaVu Sans Mono"/>
              </a:rPr>
              <a:t>s</a:t>
            </a:r>
            <a:r>
              <a:rPr dirty="0" sz="1750" spc="-290">
                <a:solidFill>
                  <a:srgbClr val="2B2E3C"/>
                </a:solidFill>
                <a:latin typeface="DejaVu Sans Mono"/>
                <a:cs typeface="DejaVu Sans Mono"/>
              </a:rPr>
              <a:t>_</a:t>
            </a:r>
            <a:r>
              <a:rPr dirty="0" sz="1750" spc="-380">
                <a:solidFill>
                  <a:srgbClr val="2B2E3C"/>
                </a:solidFill>
                <a:latin typeface="DejaVu Sans Mono"/>
                <a:cs typeface="DejaVu Sans Mono"/>
              </a:rPr>
              <a:t>r</a:t>
            </a:r>
            <a:r>
              <a:rPr dirty="0" sz="1750" spc="-90">
                <a:solidFill>
                  <a:srgbClr val="2B2E3C"/>
                </a:solidFill>
                <a:latin typeface="DejaVu Sans Mono"/>
                <a:cs typeface="DejaVu Sans Mono"/>
              </a:rPr>
              <a:t>a</a:t>
            </a:r>
            <a:r>
              <a:rPr dirty="0" sz="1750" spc="-620">
                <a:solidFill>
                  <a:srgbClr val="2B2E3C"/>
                </a:solidFill>
                <a:latin typeface="DejaVu Sans Mono"/>
                <a:cs typeface="DejaVu Sans Mono"/>
              </a:rPr>
              <a:t>i</a:t>
            </a:r>
            <a:r>
              <a:rPr dirty="0" sz="1750" spc="-235">
                <a:solidFill>
                  <a:srgbClr val="2B2E3C"/>
                </a:solidFill>
                <a:latin typeface="DejaVu Sans Mono"/>
                <a:cs typeface="DejaVu Sans Mono"/>
              </a:rPr>
              <a:t>s</a:t>
            </a:r>
            <a:r>
              <a:rPr dirty="0" sz="1750" spc="-85">
                <a:solidFill>
                  <a:srgbClr val="2B2E3C"/>
                </a:solidFill>
                <a:latin typeface="DejaVu Sans Mono"/>
                <a:cs typeface="DejaVu Sans Mono"/>
              </a:rPr>
              <a:t>e</a:t>
            </a:r>
            <a:r>
              <a:rPr dirty="0" sz="1750" spc="10">
                <a:solidFill>
                  <a:srgbClr val="2B2E3C"/>
                </a:solidFill>
                <a:latin typeface="DejaVu Sans Mono"/>
                <a:cs typeface="DejaVu Sans Mono"/>
              </a:rPr>
              <a:t>d</a:t>
            </a:r>
            <a:r>
              <a:rPr dirty="0" sz="1750" spc="-290">
                <a:solidFill>
                  <a:srgbClr val="2B2E3C"/>
                </a:solidFill>
                <a:latin typeface="DejaVu Sans Mono"/>
                <a:cs typeface="DejaVu Sans Mono"/>
              </a:rPr>
              <a:t>_</a:t>
            </a:r>
            <a:r>
              <a:rPr dirty="0" sz="1750" spc="-10">
                <a:solidFill>
                  <a:srgbClr val="2B2E3C"/>
                </a:solidFill>
                <a:latin typeface="DejaVu Sans Mono"/>
                <a:cs typeface="DejaVu Sans Mono"/>
              </a:rPr>
              <a:t>m</a:t>
            </a:r>
            <a:r>
              <a:rPr dirty="0" sz="1750" spc="1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170">
                <a:solidFill>
                  <a:srgbClr val="2B2E3C"/>
                </a:solidFill>
                <a:latin typeface="DejaVu Sans Mono"/>
                <a:cs typeface="DejaVu Sans Mono"/>
              </a:rPr>
              <a:t>i</a:t>
            </a:r>
            <a:r>
              <a:rPr dirty="0" sz="1750" spc="-630" b="1">
                <a:solidFill>
                  <a:srgbClr val="2B2E3C"/>
                </a:solidFill>
                <a:latin typeface="DejaVu Sans Mono"/>
                <a:cs typeface="DejaVu Sans Mono"/>
              </a:rPr>
              <a:t>l</a:t>
            </a:r>
            <a:r>
              <a:rPr dirty="0" sz="1750" spc="-625">
                <a:solidFill>
                  <a:srgbClr val="2B2E3C"/>
                </a:solidFill>
                <a:latin typeface="DejaVu Sans Mono"/>
                <a:cs typeface="DejaVu Sans Mono"/>
              </a:rPr>
              <a:t>i</a:t>
            </a:r>
            <a:r>
              <a:rPr dirty="0" sz="1750" spc="-10">
                <a:solidFill>
                  <a:srgbClr val="2B2E3C"/>
                </a:solidFill>
                <a:latin typeface="DejaVu Sans Mono"/>
                <a:cs typeface="DejaVu Sans Mono"/>
              </a:rPr>
              <a:t>o</a:t>
            </a:r>
            <a:r>
              <a:rPr dirty="0" sz="1750" spc="10">
                <a:solidFill>
                  <a:srgbClr val="2B2E3C"/>
                </a:solidFill>
                <a:latin typeface="DejaVu Sans Mono"/>
                <a:cs typeface="DejaVu Sans Mono"/>
              </a:rPr>
              <a:t>n</a:t>
            </a:r>
            <a:r>
              <a:rPr dirty="0" sz="1750" spc="-215">
                <a:solidFill>
                  <a:srgbClr val="2B2E3C"/>
                </a:solidFill>
                <a:latin typeface="DejaVu Sans Mono"/>
                <a:cs typeface="DejaVu Sans Mono"/>
              </a:rPr>
              <a:t>s</a:t>
            </a:r>
            <a:r>
              <a:rPr dirty="0" sz="1750" spc="-15">
                <a:solidFill>
                  <a:srgbClr val="2B2E3C"/>
                </a:solidFill>
                <a:latin typeface="Arial Unicode MS"/>
                <a:cs typeface="Arial Unicode MS"/>
              </a:rPr>
              <a:t>,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5">
                <a:solidFill>
                  <a:srgbClr val="2B2E3C"/>
                </a:solidFill>
                <a:latin typeface="Arial Unicode MS"/>
                <a:cs typeface="Arial Unicode MS"/>
              </a:rPr>
              <a:t>nulls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110">
                <a:solidFill>
                  <a:srgbClr val="2B2E3C"/>
                </a:solidFill>
                <a:latin typeface="Arial Unicode MS"/>
                <a:cs typeface="Arial Unicode MS"/>
              </a:rPr>
              <a:t>might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be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0">
                <a:solidFill>
                  <a:srgbClr val="2B2E3C"/>
                </a:solidFill>
                <a:latin typeface="Arial Unicode MS"/>
                <a:cs typeface="Arial Unicode MS"/>
              </a:rPr>
              <a:t>meaningful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(e.g.,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5">
                <a:solidFill>
                  <a:srgbClr val="2B2E3C"/>
                </a:solidFill>
                <a:latin typeface="Arial Unicode MS"/>
                <a:cs typeface="Arial Unicode MS"/>
              </a:rPr>
              <a:t>no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layoffs,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5">
                <a:solidFill>
                  <a:srgbClr val="2B2E3C"/>
                </a:solidFill>
                <a:latin typeface="Arial Unicode MS"/>
                <a:cs typeface="Arial Unicode MS"/>
              </a:rPr>
              <a:t>no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55">
                <a:solidFill>
                  <a:srgbClr val="2B2E3C"/>
                </a:solidFill>
                <a:latin typeface="Arial Unicode MS"/>
                <a:cs typeface="Arial Unicode MS"/>
              </a:rPr>
              <a:t>external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75">
                <a:solidFill>
                  <a:srgbClr val="2B2E3C"/>
                </a:solidFill>
                <a:latin typeface="Arial Unicode MS"/>
                <a:cs typeface="Arial Unicode MS"/>
              </a:rPr>
              <a:t>funding)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65">
                <a:solidFill>
                  <a:srgbClr val="2B2E3C"/>
                </a:solidFill>
                <a:latin typeface="Arial Unicode MS"/>
                <a:cs typeface="Arial Unicode MS"/>
              </a:rPr>
              <a:t>and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65">
                <a:solidFill>
                  <a:srgbClr val="2B2E3C"/>
                </a:solidFill>
                <a:latin typeface="Arial Unicode MS"/>
                <a:cs typeface="Arial Unicode MS"/>
              </a:rPr>
              <a:t>should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be</a:t>
            </a:r>
            <a:r>
              <a:rPr dirty="0" sz="1750" spc="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80">
                <a:solidFill>
                  <a:srgbClr val="2B2E3C"/>
                </a:solidFill>
                <a:latin typeface="Arial Unicode MS"/>
                <a:cs typeface="Arial Unicode MS"/>
              </a:rPr>
              <a:t>left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as</a:t>
            </a:r>
            <a:r>
              <a:rPr dirty="0" sz="1750" spc="5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55">
                <a:solidFill>
                  <a:srgbClr val="2B2E3C"/>
                </a:solidFill>
                <a:latin typeface="Arial Unicode MS"/>
                <a:cs typeface="Arial Unicode MS"/>
              </a:rPr>
              <a:t>is.</a:t>
            </a:r>
            <a:endParaRPr sz="1750">
              <a:latin typeface="Arial Unicode MS"/>
              <a:cs typeface="Arial Unicode MS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12798687" y="7806750"/>
            <a:ext cx="1731645" cy="274320"/>
          </a:xfrm>
          <a:custGeom>
            <a:avLst/>
            <a:gdLst/>
            <a:ahLst/>
            <a:cxnLst/>
            <a:rect l="l" t="t" r="r" b="b"/>
            <a:pathLst>
              <a:path w="1731644" h="274320">
                <a:moveTo>
                  <a:pt x="274142" y="0"/>
                </a:moveTo>
                <a:lnTo>
                  <a:pt x="0" y="0"/>
                </a:lnTo>
                <a:lnTo>
                  <a:pt x="0" y="274142"/>
                </a:lnTo>
                <a:lnTo>
                  <a:pt x="274142" y="0"/>
                </a:lnTo>
                <a:close/>
              </a:path>
              <a:path w="1731644" h="274320">
                <a:moveTo>
                  <a:pt x="274142" y="0"/>
                </a:moveTo>
                <a:lnTo>
                  <a:pt x="0" y="274142"/>
                </a:lnTo>
                <a:lnTo>
                  <a:pt x="274142" y="274142"/>
                </a:lnTo>
                <a:lnTo>
                  <a:pt x="274142" y="0"/>
                </a:lnTo>
                <a:close/>
              </a:path>
              <a:path w="1731644" h="274320">
                <a:moveTo>
                  <a:pt x="1457420" y="0"/>
                </a:moveTo>
                <a:lnTo>
                  <a:pt x="274142" y="0"/>
                </a:lnTo>
                <a:lnTo>
                  <a:pt x="274142" y="274142"/>
                </a:lnTo>
                <a:lnTo>
                  <a:pt x="1457420" y="274142"/>
                </a:lnTo>
                <a:lnTo>
                  <a:pt x="1457420" y="0"/>
                </a:lnTo>
                <a:close/>
              </a:path>
              <a:path w="1731644" h="274320">
                <a:moveTo>
                  <a:pt x="1731562" y="0"/>
                </a:moveTo>
                <a:lnTo>
                  <a:pt x="1457420" y="0"/>
                </a:lnTo>
                <a:lnTo>
                  <a:pt x="1457420" y="274142"/>
                </a:lnTo>
                <a:lnTo>
                  <a:pt x="1731562" y="0"/>
                </a:lnTo>
                <a:close/>
              </a:path>
              <a:path w="1731644" h="274320">
                <a:moveTo>
                  <a:pt x="1731562" y="0"/>
                </a:moveTo>
                <a:lnTo>
                  <a:pt x="1457420" y="274142"/>
                </a:lnTo>
                <a:lnTo>
                  <a:pt x="1731562" y="274142"/>
                </a:lnTo>
                <a:lnTo>
                  <a:pt x="17315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86044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11696" y="591387"/>
            <a:ext cx="6598920" cy="1055370"/>
          </a:xfrm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700" marR="5080">
              <a:lnSpc>
                <a:spcPts val="4150"/>
              </a:lnSpc>
              <a:spcBef>
                <a:spcPts val="10"/>
              </a:spcBef>
            </a:pPr>
            <a:r>
              <a:rPr dirty="0" sz="3300"/>
              <a:t>Step</a:t>
            </a:r>
            <a:r>
              <a:rPr dirty="0" sz="3300" spc="5">
                <a:latin typeface="Arial"/>
                <a:cs typeface="Arial"/>
              </a:rPr>
              <a:t> </a:t>
            </a:r>
            <a:r>
              <a:rPr dirty="0" sz="3300"/>
              <a:t>4:</a:t>
            </a:r>
            <a:r>
              <a:rPr dirty="0" sz="3300" spc="5">
                <a:latin typeface="Arial"/>
                <a:cs typeface="Arial"/>
              </a:rPr>
              <a:t> </a:t>
            </a:r>
            <a:r>
              <a:rPr dirty="0" sz="3300" spc="65"/>
              <a:t>Removing</a:t>
            </a:r>
            <a:r>
              <a:rPr dirty="0" sz="3300" spc="10">
                <a:latin typeface="Arial"/>
                <a:cs typeface="Arial"/>
              </a:rPr>
              <a:t> </a:t>
            </a:r>
            <a:r>
              <a:rPr dirty="0" sz="3300"/>
              <a:t>Useless</a:t>
            </a:r>
            <a:r>
              <a:rPr dirty="0" sz="3300">
                <a:latin typeface="Arial"/>
                <a:cs typeface="Arial"/>
              </a:rPr>
              <a:t> </a:t>
            </a:r>
            <a:r>
              <a:rPr dirty="0" sz="3300"/>
              <a:t>Rows</a:t>
            </a:r>
            <a:r>
              <a:rPr dirty="0" sz="3300">
                <a:latin typeface="Arial"/>
                <a:cs typeface="Arial"/>
              </a:rPr>
              <a:t> </a:t>
            </a:r>
            <a:r>
              <a:rPr dirty="0" sz="3300" spc="-335"/>
              <a:t>&amp;</a:t>
            </a:r>
            <a:r>
              <a:rPr dirty="0" sz="3300" spc="-335">
                <a:latin typeface="Arial"/>
                <a:cs typeface="Arial"/>
              </a:rPr>
              <a:t> </a:t>
            </a:r>
            <a:r>
              <a:rPr dirty="0" sz="3300" spc="65"/>
              <a:t>Columns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211696" y="1939006"/>
            <a:ext cx="6921500" cy="699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100"/>
              </a:spcBef>
            </a:pPr>
            <a:r>
              <a:rPr dirty="0" sz="1650">
                <a:solidFill>
                  <a:srgbClr val="2B2E3C"/>
                </a:solidFill>
                <a:latin typeface="Arial Unicode MS"/>
                <a:cs typeface="Arial Unicode MS"/>
              </a:rPr>
              <a:t>The</a:t>
            </a:r>
            <a:r>
              <a:rPr dirty="0" sz="1650" spc="9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2B2E3C"/>
                </a:solidFill>
                <a:latin typeface="Arial Unicode MS"/>
                <a:cs typeface="Arial Unicode MS"/>
              </a:rPr>
              <a:t>final</a:t>
            </a:r>
            <a:r>
              <a:rPr dirty="0" sz="16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B2E3C"/>
                </a:solidFill>
                <a:latin typeface="Arial Unicode MS"/>
                <a:cs typeface="Arial Unicode MS"/>
              </a:rPr>
              <a:t>step</a:t>
            </a:r>
            <a:r>
              <a:rPr dirty="0" sz="1650" spc="9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B2E3C"/>
                </a:solidFill>
                <a:latin typeface="Arial Unicode MS"/>
                <a:cs typeface="Arial Unicode MS"/>
              </a:rPr>
              <a:t>involves</a:t>
            </a:r>
            <a:r>
              <a:rPr dirty="0" sz="16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650" spc="70">
                <a:solidFill>
                  <a:srgbClr val="2B2E3C"/>
                </a:solidFill>
                <a:latin typeface="Arial Unicode MS"/>
                <a:cs typeface="Arial Unicode MS"/>
              </a:rPr>
              <a:t>refining</a:t>
            </a:r>
            <a:r>
              <a:rPr dirty="0" sz="16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650" spc="75">
                <a:solidFill>
                  <a:srgbClr val="2B2E3C"/>
                </a:solidFill>
                <a:latin typeface="Arial Unicode MS"/>
                <a:cs typeface="Arial Unicode MS"/>
              </a:rPr>
              <a:t>your</a:t>
            </a:r>
            <a:r>
              <a:rPr dirty="0" sz="16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B2E3C"/>
                </a:solidFill>
                <a:latin typeface="Arial Unicode MS"/>
                <a:cs typeface="Arial Unicode MS"/>
              </a:rPr>
              <a:t>dataset</a:t>
            </a:r>
            <a:r>
              <a:rPr dirty="0" sz="16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B2E3C"/>
                </a:solidFill>
                <a:latin typeface="Arial Unicode MS"/>
                <a:cs typeface="Arial Unicode MS"/>
              </a:rPr>
              <a:t>by</a:t>
            </a:r>
            <a:r>
              <a:rPr dirty="0" sz="16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650" spc="65">
                <a:solidFill>
                  <a:srgbClr val="2B2E3C"/>
                </a:solidFill>
                <a:latin typeface="Arial Unicode MS"/>
                <a:cs typeface="Arial Unicode MS"/>
              </a:rPr>
              <a:t>removing</a:t>
            </a:r>
            <a:r>
              <a:rPr dirty="0" sz="16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B2E3C"/>
                </a:solidFill>
                <a:latin typeface="Arial Unicode MS"/>
                <a:cs typeface="Arial Unicode MS"/>
              </a:rPr>
              <a:t>any</a:t>
            </a:r>
            <a:r>
              <a:rPr dirty="0" sz="16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2B2E3C"/>
                </a:solidFill>
                <a:latin typeface="Arial Unicode MS"/>
                <a:cs typeface="Arial Unicode MS"/>
              </a:rPr>
              <a:t>data</a:t>
            </a:r>
            <a:r>
              <a:rPr dirty="0" sz="1650" spc="10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2B2E3C"/>
                </a:solidFill>
                <a:latin typeface="Arial Unicode MS"/>
                <a:cs typeface="Arial Unicode MS"/>
              </a:rPr>
              <a:t>that</a:t>
            </a:r>
            <a:r>
              <a:rPr dirty="0" sz="1650" spc="-2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2B2E3C"/>
                </a:solidFill>
                <a:latin typeface="Arial Unicode MS"/>
                <a:cs typeface="Arial Unicode MS"/>
              </a:rPr>
              <a:t>doesn't</a:t>
            </a:r>
            <a:r>
              <a:rPr dirty="0" sz="1650" spc="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650" spc="75">
                <a:solidFill>
                  <a:srgbClr val="2B2E3C"/>
                </a:solidFill>
                <a:latin typeface="Arial Unicode MS"/>
                <a:cs typeface="Arial Unicode MS"/>
              </a:rPr>
              <a:t>contribute</a:t>
            </a:r>
            <a:r>
              <a:rPr dirty="0" sz="1650" spc="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650" spc="100">
                <a:solidFill>
                  <a:srgbClr val="2B2E3C"/>
                </a:solidFill>
                <a:latin typeface="Arial Unicode MS"/>
                <a:cs typeface="Arial Unicode MS"/>
              </a:rPr>
              <a:t>to</a:t>
            </a:r>
            <a:r>
              <a:rPr dirty="0" sz="1650" spc="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650" spc="75">
                <a:solidFill>
                  <a:srgbClr val="2B2E3C"/>
                </a:solidFill>
                <a:latin typeface="Arial Unicode MS"/>
                <a:cs typeface="Arial Unicode MS"/>
              </a:rPr>
              <a:t>your</a:t>
            </a:r>
            <a:r>
              <a:rPr dirty="0" sz="1650" spc="8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2B2E3C"/>
                </a:solidFill>
                <a:latin typeface="Arial Unicode MS"/>
                <a:cs typeface="Arial Unicode MS"/>
              </a:rPr>
              <a:t>analytical</a:t>
            </a:r>
            <a:r>
              <a:rPr dirty="0" sz="1650" spc="9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2B2E3C"/>
                </a:solidFill>
                <a:latin typeface="Arial Unicode MS"/>
                <a:cs typeface="Arial Unicode MS"/>
              </a:rPr>
              <a:t>goals.</a:t>
            </a:r>
            <a:endParaRPr sz="1650">
              <a:latin typeface="Arial Unicode MS"/>
              <a:cs typeface="Arial Unicode M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220586" y="2859989"/>
            <a:ext cx="7675245" cy="5017770"/>
            <a:chOff x="6220586" y="2859989"/>
            <a:chExt cx="7675245" cy="5017770"/>
          </a:xfrm>
        </p:grpSpPr>
        <p:sp>
          <p:nvSpPr>
            <p:cNvPr id="6" name="object 6" descr=""/>
            <p:cNvSpPr/>
            <p:nvPr/>
          </p:nvSpPr>
          <p:spPr>
            <a:xfrm>
              <a:off x="6224397" y="2863799"/>
              <a:ext cx="7667625" cy="5010150"/>
            </a:xfrm>
            <a:custGeom>
              <a:avLst/>
              <a:gdLst/>
              <a:ahLst/>
              <a:cxnLst/>
              <a:rect l="l" t="t" r="r" b="b"/>
              <a:pathLst>
                <a:path w="7667625" h="5010150">
                  <a:moveTo>
                    <a:pt x="7578344" y="0"/>
                  </a:moveTo>
                  <a:lnTo>
                    <a:pt x="88557" y="0"/>
                  </a:lnTo>
                  <a:lnTo>
                    <a:pt x="77037" y="742"/>
                  </a:lnTo>
                  <a:lnTo>
                    <a:pt x="34715" y="18208"/>
                  </a:lnTo>
                  <a:lnTo>
                    <a:pt x="6686" y="54640"/>
                  </a:lnTo>
                  <a:lnTo>
                    <a:pt x="0" y="88557"/>
                  </a:lnTo>
                  <a:lnTo>
                    <a:pt x="0" y="4921553"/>
                  </a:lnTo>
                  <a:lnTo>
                    <a:pt x="11887" y="4965839"/>
                  </a:lnTo>
                  <a:lnTo>
                    <a:pt x="44284" y="4998235"/>
                  </a:lnTo>
                  <a:lnTo>
                    <a:pt x="88557" y="5010126"/>
                  </a:lnTo>
                  <a:lnTo>
                    <a:pt x="7578725" y="5009753"/>
                  </a:lnTo>
                  <a:lnTo>
                    <a:pt x="7623048" y="4997883"/>
                  </a:lnTo>
                  <a:lnTo>
                    <a:pt x="7655433" y="4965482"/>
                  </a:lnTo>
                  <a:lnTo>
                    <a:pt x="7667244" y="4921201"/>
                  </a:lnTo>
                  <a:lnTo>
                    <a:pt x="7666990" y="88557"/>
                  </a:lnTo>
                  <a:lnTo>
                    <a:pt x="7655052" y="44284"/>
                  </a:lnTo>
                  <a:lnTo>
                    <a:pt x="7622667" y="11874"/>
                  </a:lnTo>
                  <a:lnTo>
                    <a:pt x="7578344" y="0"/>
                  </a:lnTo>
                  <a:close/>
                </a:path>
              </a:pathLst>
            </a:custGeom>
            <a:solidFill>
              <a:srgbClr val="FCE2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24396" y="2863799"/>
              <a:ext cx="7667625" cy="5010150"/>
            </a:xfrm>
            <a:custGeom>
              <a:avLst/>
              <a:gdLst/>
              <a:ahLst/>
              <a:cxnLst/>
              <a:rect l="l" t="t" r="r" b="b"/>
              <a:pathLst>
                <a:path w="7667625" h="5010150">
                  <a:moveTo>
                    <a:pt x="0" y="88557"/>
                  </a:moveTo>
                  <a:lnTo>
                    <a:pt x="742" y="76980"/>
                  </a:lnTo>
                  <a:lnTo>
                    <a:pt x="2971" y="65606"/>
                  </a:lnTo>
                  <a:lnTo>
                    <a:pt x="26057" y="25788"/>
                  </a:lnTo>
                  <a:lnTo>
                    <a:pt x="65749" y="2970"/>
                  </a:lnTo>
                  <a:lnTo>
                    <a:pt x="88557" y="0"/>
                  </a:lnTo>
                  <a:lnTo>
                    <a:pt x="7578344" y="0"/>
                  </a:lnTo>
                  <a:lnTo>
                    <a:pt x="7622667" y="11874"/>
                  </a:lnTo>
                  <a:lnTo>
                    <a:pt x="7655052" y="44284"/>
                  </a:lnTo>
                  <a:lnTo>
                    <a:pt x="7666990" y="88557"/>
                  </a:lnTo>
                  <a:lnTo>
                    <a:pt x="7667244" y="4921201"/>
                  </a:lnTo>
                  <a:lnTo>
                    <a:pt x="7666505" y="4932777"/>
                  </a:lnTo>
                  <a:lnTo>
                    <a:pt x="7664291" y="4944151"/>
                  </a:lnTo>
                  <a:lnTo>
                    <a:pt x="7641193" y="4983979"/>
                  </a:lnTo>
                  <a:lnTo>
                    <a:pt x="7601553" y="5006789"/>
                  </a:lnTo>
                  <a:lnTo>
                    <a:pt x="88557" y="5010125"/>
                  </a:lnTo>
                  <a:lnTo>
                    <a:pt x="44284" y="4998234"/>
                  </a:lnTo>
                  <a:lnTo>
                    <a:pt x="11887" y="4965839"/>
                  </a:lnTo>
                  <a:lnTo>
                    <a:pt x="0" y="4921553"/>
                  </a:lnTo>
                  <a:lnTo>
                    <a:pt x="0" y="88557"/>
                  </a:lnTo>
                  <a:close/>
                </a:path>
              </a:pathLst>
            </a:custGeom>
            <a:ln w="7559">
              <a:solidFill>
                <a:srgbClr val="E2C8B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442925" y="3082315"/>
              <a:ext cx="633095" cy="633095"/>
            </a:xfrm>
            <a:custGeom>
              <a:avLst/>
              <a:gdLst/>
              <a:ahLst/>
              <a:cxnLst/>
              <a:rect l="l" t="t" r="r" b="b"/>
              <a:pathLst>
                <a:path w="633095" h="633095">
                  <a:moveTo>
                    <a:pt x="316433" y="0"/>
                  </a:moveTo>
                  <a:lnTo>
                    <a:pt x="275080" y="2740"/>
                  </a:lnTo>
                  <a:lnTo>
                    <a:pt x="234535" y="10848"/>
                  </a:lnTo>
                  <a:lnTo>
                    <a:pt x="195341" y="24153"/>
                  </a:lnTo>
                  <a:lnTo>
                    <a:pt x="158038" y="42481"/>
                  </a:lnTo>
                  <a:lnTo>
                    <a:pt x="123680" y="65500"/>
                  </a:lnTo>
                  <a:lnTo>
                    <a:pt x="92695" y="92702"/>
                  </a:lnTo>
                  <a:lnTo>
                    <a:pt x="65489" y="123682"/>
                  </a:lnTo>
                  <a:lnTo>
                    <a:pt x="42468" y="158038"/>
                  </a:lnTo>
                  <a:lnTo>
                    <a:pt x="24142" y="195348"/>
                  </a:lnTo>
                  <a:lnTo>
                    <a:pt x="10842" y="234546"/>
                  </a:lnTo>
                  <a:lnTo>
                    <a:pt x="2738" y="275092"/>
                  </a:lnTo>
                  <a:lnTo>
                    <a:pt x="0" y="316445"/>
                  </a:lnTo>
                  <a:lnTo>
                    <a:pt x="2738" y="357793"/>
                  </a:lnTo>
                  <a:lnTo>
                    <a:pt x="10842" y="398298"/>
                  </a:lnTo>
                  <a:lnTo>
                    <a:pt x="24142" y="437387"/>
                  </a:lnTo>
                  <a:lnTo>
                    <a:pt x="42468" y="474484"/>
                  </a:lnTo>
                  <a:lnTo>
                    <a:pt x="65489" y="509048"/>
                  </a:lnTo>
                  <a:lnTo>
                    <a:pt x="92695" y="540138"/>
                  </a:lnTo>
                  <a:lnTo>
                    <a:pt x="123680" y="567383"/>
                  </a:lnTo>
                  <a:lnTo>
                    <a:pt x="158038" y="590410"/>
                  </a:lnTo>
                  <a:lnTo>
                    <a:pt x="195341" y="608736"/>
                  </a:lnTo>
                  <a:lnTo>
                    <a:pt x="234535" y="622036"/>
                  </a:lnTo>
                  <a:lnTo>
                    <a:pt x="275080" y="630140"/>
                  </a:lnTo>
                  <a:lnTo>
                    <a:pt x="316433" y="632879"/>
                  </a:lnTo>
                  <a:lnTo>
                    <a:pt x="357780" y="630140"/>
                  </a:lnTo>
                  <a:lnTo>
                    <a:pt x="398286" y="622036"/>
                  </a:lnTo>
                  <a:lnTo>
                    <a:pt x="437375" y="608736"/>
                  </a:lnTo>
                  <a:lnTo>
                    <a:pt x="474472" y="590410"/>
                  </a:lnTo>
                  <a:lnTo>
                    <a:pt x="509041" y="567383"/>
                  </a:lnTo>
                  <a:lnTo>
                    <a:pt x="540131" y="540138"/>
                  </a:lnTo>
                  <a:lnTo>
                    <a:pt x="567372" y="509048"/>
                  </a:lnTo>
                  <a:lnTo>
                    <a:pt x="590397" y="474484"/>
                  </a:lnTo>
                  <a:lnTo>
                    <a:pt x="608726" y="437387"/>
                  </a:lnTo>
                  <a:lnTo>
                    <a:pt x="622030" y="398298"/>
                  </a:lnTo>
                  <a:lnTo>
                    <a:pt x="630138" y="357793"/>
                  </a:lnTo>
                  <a:lnTo>
                    <a:pt x="632879" y="316445"/>
                  </a:lnTo>
                  <a:lnTo>
                    <a:pt x="630138" y="275092"/>
                  </a:lnTo>
                  <a:lnTo>
                    <a:pt x="622030" y="234546"/>
                  </a:lnTo>
                  <a:lnTo>
                    <a:pt x="608726" y="195348"/>
                  </a:lnTo>
                  <a:lnTo>
                    <a:pt x="590397" y="158038"/>
                  </a:lnTo>
                  <a:lnTo>
                    <a:pt x="567372" y="123682"/>
                  </a:lnTo>
                  <a:lnTo>
                    <a:pt x="540131" y="92702"/>
                  </a:lnTo>
                  <a:lnTo>
                    <a:pt x="509041" y="65500"/>
                  </a:lnTo>
                  <a:lnTo>
                    <a:pt x="474472" y="42481"/>
                  </a:lnTo>
                  <a:lnTo>
                    <a:pt x="437375" y="24153"/>
                  </a:lnTo>
                  <a:lnTo>
                    <a:pt x="398286" y="10848"/>
                  </a:lnTo>
                  <a:lnTo>
                    <a:pt x="357780" y="2740"/>
                  </a:lnTo>
                  <a:lnTo>
                    <a:pt x="316433" y="0"/>
                  </a:lnTo>
                  <a:close/>
                </a:path>
              </a:pathLst>
            </a:custGeom>
            <a:solidFill>
              <a:srgbClr val="D25F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629399" y="3268078"/>
              <a:ext cx="260985" cy="261620"/>
            </a:xfrm>
            <a:custGeom>
              <a:avLst/>
              <a:gdLst/>
              <a:ahLst/>
              <a:cxnLst/>
              <a:rect l="l" t="t" r="r" b="b"/>
              <a:pathLst>
                <a:path w="260984" h="261620">
                  <a:moveTo>
                    <a:pt x="186474" y="55803"/>
                  </a:moveTo>
                  <a:lnTo>
                    <a:pt x="180721" y="16916"/>
                  </a:lnTo>
                  <a:lnTo>
                    <a:pt x="154800" y="355"/>
                  </a:lnTo>
                  <a:lnTo>
                    <a:pt x="151917" y="0"/>
                  </a:lnTo>
                </a:path>
                <a:path w="260984" h="261620">
                  <a:moveTo>
                    <a:pt x="65874" y="260997"/>
                  </a:moveTo>
                  <a:lnTo>
                    <a:pt x="63004" y="260997"/>
                  </a:lnTo>
                  <a:lnTo>
                    <a:pt x="59766" y="260286"/>
                  </a:lnTo>
                  <a:lnTo>
                    <a:pt x="57594" y="259918"/>
                  </a:lnTo>
                  <a:lnTo>
                    <a:pt x="55079" y="258838"/>
                  </a:lnTo>
                  <a:lnTo>
                    <a:pt x="52920" y="257759"/>
                  </a:lnTo>
                  <a:lnTo>
                    <a:pt x="50761" y="256324"/>
                  </a:lnTo>
                  <a:lnTo>
                    <a:pt x="48958" y="254520"/>
                  </a:lnTo>
                  <a:lnTo>
                    <a:pt x="46443" y="252361"/>
                  </a:lnTo>
                  <a:lnTo>
                    <a:pt x="43916" y="248043"/>
                  </a:lnTo>
                  <a:lnTo>
                    <a:pt x="42125" y="244436"/>
                  </a:lnTo>
                  <a:lnTo>
                    <a:pt x="41402" y="240118"/>
                  </a:lnTo>
                  <a:lnTo>
                    <a:pt x="40322" y="230759"/>
                  </a:lnTo>
                </a:path>
                <a:path w="260984" h="261620">
                  <a:moveTo>
                    <a:pt x="97917" y="1803"/>
                  </a:moveTo>
                  <a:lnTo>
                    <a:pt x="93954" y="3606"/>
                  </a:lnTo>
                  <a:lnTo>
                    <a:pt x="91440" y="5041"/>
                  </a:lnTo>
                  <a:lnTo>
                    <a:pt x="88925" y="6477"/>
                  </a:lnTo>
                  <a:lnTo>
                    <a:pt x="75009" y="46211"/>
                  </a:lnTo>
                  <a:lnTo>
                    <a:pt x="74879" y="55803"/>
                  </a:lnTo>
                </a:path>
                <a:path w="260984" h="261620">
                  <a:moveTo>
                    <a:pt x="260642" y="55803"/>
                  </a:moveTo>
                  <a:lnTo>
                    <a:pt x="0" y="55803"/>
                  </a:lnTo>
                </a:path>
                <a:path w="260984" h="261620">
                  <a:moveTo>
                    <a:pt x="241922" y="55803"/>
                  </a:moveTo>
                  <a:lnTo>
                    <a:pt x="219240" y="238683"/>
                  </a:lnTo>
                  <a:lnTo>
                    <a:pt x="218884" y="242277"/>
                  </a:lnTo>
                  <a:lnTo>
                    <a:pt x="217805" y="245884"/>
                  </a:lnTo>
                  <a:lnTo>
                    <a:pt x="199440" y="261366"/>
                  </a:lnTo>
                  <a:lnTo>
                    <a:pt x="195122" y="261366"/>
                  </a:lnTo>
                  <a:lnTo>
                    <a:pt x="193319" y="261366"/>
                  </a:lnTo>
                  <a:lnTo>
                    <a:pt x="191516" y="260997"/>
                  </a:lnTo>
                  <a:lnTo>
                    <a:pt x="189725" y="260642"/>
                  </a:lnTo>
                </a:path>
                <a:path w="260984" h="261620">
                  <a:moveTo>
                    <a:pt x="189725" y="260997"/>
                  </a:moveTo>
                  <a:lnTo>
                    <a:pt x="65874" y="260997"/>
                  </a:lnTo>
                </a:path>
                <a:path w="260984" h="261620">
                  <a:moveTo>
                    <a:pt x="40322" y="230759"/>
                  </a:moveTo>
                  <a:lnTo>
                    <a:pt x="19443" y="55803"/>
                  </a:lnTo>
                </a:path>
                <a:path w="260984" h="261620">
                  <a:moveTo>
                    <a:pt x="151917" y="0"/>
                  </a:moveTo>
                  <a:lnTo>
                    <a:pt x="97917" y="1803"/>
                  </a:lnTo>
                </a:path>
              </a:pathLst>
            </a:custGeom>
            <a:ln w="115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430225" y="3934345"/>
            <a:ext cx="2480945" cy="398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50" spc="110">
                <a:solidFill>
                  <a:srgbClr val="2B2E3C"/>
                </a:solidFill>
                <a:latin typeface="Arial Unicode MS"/>
                <a:cs typeface="Arial Unicode MS"/>
              </a:rPr>
              <a:t>Identify</a:t>
            </a:r>
            <a:r>
              <a:rPr dirty="0" sz="2450" spc="3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450" spc="145">
                <a:solidFill>
                  <a:srgbClr val="2B2E3C"/>
                </a:solidFill>
                <a:latin typeface="Arial Unicode MS"/>
                <a:cs typeface="Arial Unicode MS"/>
              </a:rPr>
              <a:t>&amp;</a:t>
            </a:r>
            <a:r>
              <a:rPr dirty="0" sz="2450" spc="3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2450" spc="-10">
                <a:solidFill>
                  <a:srgbClr val="2B2E3C"/>
                </a:solidFill>
                <a:latin typeface="Arial Unicode MS"/>
                <a:cs typeface="Arial Unicode MS"/>
              </a:rPr>
              <a:t>Delete</a:t>
            </a:r>
            <a:endParaRPr sz="2450">
              <a:latin typeface="Arial Unicode MS"/>
              <a:cs typeface="Arial Unicode MS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443281" y="4559046"/>
            <a:ext cx="8109584" cy="3620770"/>
            <a:chOff x="6443281" y="4559046"/>
            <a:chExt cx="8109584" cy="3620770"/>
          </a:xfrm>
        </p:grpSpPr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43281" y="4559046"/>
              <a:ext cx="7229525" cy="2521077"/>
            </a:xfrm>
            <a:prstGeom prst="rect">
              <a:avLst/>
            </a:prstGeom>
          </p:spPr>
        </p:pic>
        <p:sp>
          <p:nvSpPr>
            <p:cNvPr id="13" name="object 13" descr="">
              <a:hlinkClick r:id="rId4"/>
            </p:cNvPr>
            <p:cNvSpPr/>
            <p:nvPr/>
          </p:nvSpPr>
          <p:spPr>
            <a:xfrm>
              <a:off x="12742190" y="7724838"/>
              <a:ext cx="1811020" cy="455295"/>
            </a:xfrm>
            <a:custGeom>
              <a:avLst/>
              <a:gdLst/>
              <a:ahLst/>
              <a:cxnLst/>
              <a:rect l="l" t="t" r="r" b="b"/>
              <a:pathLst>
                <a:path w="1811019" h="455295">
                  <a:moveTo>
                    <a:pt x="1810575" y="0"/>
                  </a:moveTo>
                  <a:lnTo>
                    <a:pt x="1536433" y="0"/>
                  </a:lnTo>
                  <a:lnTo>
                    <a:pt x="1449095" y="0"/>
                  </a:lnTo>
                  <a:lnTo>
                    <a:pt x="1174953" y="0"/>
                  </a:lnTo>
                  <a:lnTo>
                    <a:pt x="1174953" y="180759"/>
                  </a:lnTo>
                  <a:lnTo>
                    <a:pt x="274142" y="180759"/>
                  </a:lnTo>
                  <a:lnTo>
                    <a:pt x="0" y="180759"/>
                  </a:lnTo>
                  <a:lnTo>
                    <a:pt x="0" y="454901"/>
                  </a:lnTo>
                  <a:lnTo>
                    <a:pt x="274142" y="454901"/>
                  </a:lnTo>
                  <a:lnTo>
                    <a:pt x="1457426" y="454901"/>
                  </a:lnTo>
                  <a:lnTo>
                    <a:pt x="1731568" y="454901"/>
                  </a:lnTo>
                  <a:lnTo>
                    <a:pt x="1731568" y="274142"/>
                  </a:lnTo>
                  <a:lnTo>
                    <a:pt x="1810575" y="274142"/>
                  </a:lnTo>
                  <a:lnTo>
                    <a:pt x="1810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3580" y="3150971"/>
            <a:ext cx="4159885" cy="113157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R="107314">
              <a:lnSpc>
                <a:spcPct val="100000"/>
              </a:lnSpc>
              <a:spcBef>
                <a:spcPts val="100"/>
              </a:spcBef>
            </a:pPr>
            <a:r>
              <a:rPr dirty="0" sz="3550" spc="55"/>
              <a:t>Thank</a:t>
            </a:r>
            <a:r>
              <a:rPr dirty="0" sz="3550" spc="55">
                <a:latin typeface="Arial"/>
                <a:cs typeface="Arial"/>
              </a:rPr>
              <a:t> </a:t>
            </a:r>
            <a:r>
              <a:rPr dirty="0" sz="3550" spc="-20"/>
              <a:t>You.</a:t>
            </a:r>
            <a:endParaRPr sz="35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dirty="0" sz="3550"/>
              <a:t>Feedback</a:t>
            </a:r>
            <a:r>
              <a:rPr dirty="0" sz="3550" spc="190">
                <a:latin typeface="Arial"/>
                <a:cs typeface="Arial"/>
              </a:rPr>
              <a:t> </a:t>
            </a:r>
            <a:r>
              <a:rPr dirty="0" sz="3550" spc="80"/>
              <a:t>welcome.</a:t>
            </a:r>
            <a:endParaRPr sz="35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549860" y="4809502"/>
            <a:ext cx="1296670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-</a:t>
            </a:r>
            <a:r>
              <a:rPr dirty="0" sz="1750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2B2E3C"/>
                </a:solidFill>
                <a:latin typeface="Arial Unicode MS"/>
                <a:cs typeface="Arial Unicode MS"/>
              </a:rPr>
              <a:t>Palak</a:t>
            </a:r>
            <a:r>
              <a:rPr dirty="0" sz="1750" spc="5">
                <a:solidFill>
                  <a:srgbClr val="2B2E3C"/>
                </a:solidFill>
                <a:latin typeface="Arial"/>
                <a:cs typeface="Arial"/>
              </a:rPr>
              <a:t> </a:t>
            </a:r>
            <a:r>
              <a:rPr dirty="0" sz="1750" spc="-20">
                <a:solidFill>
                  <a:srgbClr val="2B2E3C"/>
                </a:solidFill>
                <a:latin typeface="Arial Unicode MS"/>
                <a:cs typeface="Arial Unicode MS"/>
              </a:rPr>
              <a:t>Dave</a:t>
            </a:r>
            <a:endParaRPr sz="1750">
              <a:latin typeface="Arial Unicode MS"/>
              <a:cs typeface="Arial Unicode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2776086" y="7792046"/>
            <a:ext cx="1811020" cy="398780"/>
          </a:xfrm>
          <a:custGeom>
            <a:avLst/>
            <a:gdLst/>
            <a:ahLst/>
            <a:cxnLst/>
            <a:rect l="l" t="t" r="r" b="b"/>
            <a:pathLst>
              <a:path w="1811019" h="398779">
                <a:moveTo>
                  <a:pt x="1810639" y="124269"/>
                </a:moveTo>
                <a:lnTo>
                  <a:pt x="1731568" y="124269"/>
                </a:lnTo>
                <a:lnTo>
                  <a:pt x="1731568" y="0"/>
                </a:lnTo>
                <a:lnTo>
                  <a:pt x="1457426" y="0"/>
                </a:lnTo>
                <a:lnTo>
                  <a:pt x="274142" y="0"/>
                </a:lnTo>
                <a:lnTo>
                  <a:pt x="0" y="0"/>
                </a:lnTo>
                <a:lnTo>
                  <a:pt x="0" y="274142"/>
                </a:lnTo>
                <a:lnTo>
                  <a:pt x="22593" y="274142"/>
                </a:lnTo>
                <a:lnTo>
                  <a:pt x="22593" y="398411"/>
                </a:lnTo>
                <a:lnTo>
                  <a:pt x="296735" y="398411"/>
                </a:lnTo>
                <a:lnTo>
                  <a:pt x="1536496" y="398411"/>
                </a:lnTo>
                <a:lnTo>
                  <a:pt x="1810639" y="398411"/>
                </a:lnTo>
                <a:lnTo>
                  <a:pt x="1810639" y="1242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2025-12-19T15:30:08Z</dcterms:created>
  <dcterms:modified xsi:type="dcterms:W3CDTF">2025-12-19T15:30:08Z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2025-12-19T00:00:00Z</vt:filetime>
  </property>
  <property fmtid="{D5CDD505-2E9C-101B-9397-08002B2CF9AE}" pid="3" name="Creator">
    <vt:lpwstr>Impress</vt:lpwstr>
  </property>
  <property fmtid="{D5CDD505-2E9C-101B-9397-08002B2CF9AE}" pid="4" name="DocumentID">
    <vt:lpwstr>0184-7783-2474-0001</vt:lpwstr>
  </property>
  <property fmtid="{D5CDD505-2E9C-101B-9397-08002B2CF9AE}" pid="5" name="LastSaved">
    <vt:filetime>2025-12-19T00:00:00Z</vt:filetime>
  </property>
  <property fmtid="{D5CDD505-2E9C-101B-9397-08002B2CF9AE}" pid="6" name="Producer">
    <vt:lpwstr>airSlate inc. Mellivora 3.4.7</vt:lpwstr>
  </property>
</Properties>
</file>